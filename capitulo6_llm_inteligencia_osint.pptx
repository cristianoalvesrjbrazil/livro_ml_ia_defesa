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2043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2335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2627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19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3211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503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3795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4379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4671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0292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00584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50876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01168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51460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01752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52043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02335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2627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19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53211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03503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53795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509760" y="4754880"/>
            <a:ext cx="1280160" cy="128016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98280" y="4343400"/>
            <a:ext cx="2103120" cy="210312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86800" y="3931920"/>
            <a:ext cx="2926080" cy="292608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75320" y="3520440"/>
            <a:ext cx="3749039" cy="3749039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 spc="300">
                <a:solidFill>
                  <a:srgbClr val="AFC3DC"/>
                </a:solidFill>
                <a:latin typeface="Calibri"/>
              </a:rPr>
              <a:t>QUANTUM STRATEGIC 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 spc="300">
                <a:solidFill>
                  <a:srgbClr val="AFC3DC"/>
                </a:solidFill>
                <a:latin typeface="Calibri"/>
              </a:rPr>
              <a:t>CAPÍTULO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224028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entury Schoolbook"/>
              </a:rPr>
              <a:t>Modelos de Linguagem de Grande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entury Schoolbook"/>
              </a:rPr>
              <a:t>Escala em Inteligência e OSINT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4041648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1">
                <a:solidFill>
                  <a:srgbClr val="C9D6E6"/>
                </a:solidFill>
                <a:latin typeface="Calibri"/>
              </a:rPr>
              <a:t>Dos algoritmos clássicos à IA embarcada em aplicações operacionais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80644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AFC3DC"/>
                </a:solidFill>
                <a:latin typeface="Calibri"/>
              </a:rPr>
              <a:t>Cristiano Alves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AFC3DC"/>
                </a:solidFill>
                <a:latin typeface="Calibri"/>
              </a:rPr>
              <a:t>Módulo II — Percepção · Rio de Janeiro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ANTES DO ENCONTRO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Objetivos do capítulo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Ao final deste capítulo, você será capaz de: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23225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3408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76272"/>
            <a:ext cx="4251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Explicar.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arquitetura Transformer — auto-atenção, múltiplas cabeças e codificação posicional — e por que ela substituiu a recorrência.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011680"/>
            <a:ext cx="5550408" cy="11887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59" y="23225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408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2176272"/>
            <a:ext cx="44074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Distinguir.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as duas famílias — codificador (BERT, compreensão) e decodificador (GPT, geração) — e os seus usos adequados.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832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" y="36941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712463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547872"/>
            <a:ext cx="4251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Aplicar.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os paradigmas de adaptação — fine-tuning, prompt engineering e RAG — conhecendo suas trocas de custo e sigilo.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383280"/>
            <a:ext cx="5550408" cy="11887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59" y="36941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3712463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547872"/>
            <a:ext cx="44074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Empregar.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LLMs em OSINT: análise, classificação, sumarização, síntese de relatórios e apoio à decisão.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54880"/>
            <a:ext cx="1115568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" y="50657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0840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919472"/>
            <a:ext cx="10012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Reconhecer e mitigar.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os riscos próprios — alucinação, vazamento de dados e dependência de modelos estrangeiros.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 Cap. 5 terminou com uma provocação: talvez a recorrência seja dispensável. Este capítulo leva a tese à conclusão.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CAPÍTULO DE ORIENTAÇÃO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Da atenção ao emprego responsável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6.1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A arquitetura Transformer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Auto-atenção, múltiplas cabeças e codificação posicional; a paralelização que permitiu a escala.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6.2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BERT e GPT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Codificador (compreensão) e decodificador (geração): a distinção que orienta a escolha.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6.3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Adaptação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Fine-tuning, prompt engineering e RAG — três caminhos, três trocas de custo e sigilo.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6.4-5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OSINT e riscos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8348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Síntese que transforma o analista em revisor; alucinação, vazamento e dependência.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40233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6.6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2976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Assistente com 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98348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 aplicação que fecha o Módulo II: responder a partir de fontes, citando-as.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4023360"/>
            <a:ext cx="3108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AFC3DC"/>
                </a:solidFill>
                <a:latin typeface="Calibri"/>
              </a:rPr>
              <a:t>A pergunta do capítulo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entury Schoolbook"/>
              </a:rPr>
              <a:t>Como colher o salto de capacidade sem os riscos de primeira ordem que ele traz?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 capítulo mais consequente da obra — e o mais ambivalente: um salto de capacidade e riscos operacionais de peso.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6.1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A arquitetura Transformer: a auto-atenção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Cada elemento da sequência </a:t>
            </a:r>
            <a:r>
              <a:rPr sz="1500" b="1" i="0">
                <a:solidFill>
                  <a:srgbClr val="1B3A5F"/>
                </a:solidFill>
                <a:latin typeface="Calibri"/>
              </a:rPr>
              <a:t>atende a todos os demais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de cada vetor derivam-se consulta, chave e valor, e a saída mistura toda a sequência: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94560"/>
            <a:ext cx="11201400" cy="1051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04288"/>
            <a:ext cx="10607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Atenção(Q, K, V) = softmax( Q Kᵀ / √dₖ ) V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QKᵀ mede a afinidade entre pares de posições; o softmax a transforma em pesos; V produz a representação contextual.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74720"/>
            <a:ext cx="3593592" cy="10058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611880"/>
            <a:ext cx="1051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A5F"/>
                </a:solidFill>
                <a:latin typeface="Century Schoolbook"/>
              </a:rPr>
              <a:t>Q, K, 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584448"/>
            <a:ext cx="2148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consulta, chave e valor — projeções aprendidas de cada vetor de entrada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3474720"/>
            <a:ext cx="3593592" cy="10058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3611880"/>
            <a:ext cx="1051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A5F"/>
                </a:solidFill>
                <a:latin typeface="Century Schoolbook"/>
              </a:rPr>
              <a:t>√dₖ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5272" y="3584448"/>
            <a:ext cx="2148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o fator de escala que estabiliza os escores antes do softmax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3474720"/>
            <a:ext cx="3593592" cy="10058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3611880"/>
            <a:ext cx="1051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A5F"/>
                </a:solidFill>
                <a:latin typeface="Century Schoolbook"/>
              </a:rPr>
              <a:t>saída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81744" y="3584448"/>
            <a:ext cx="2148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vetor contextual: cada palavra depende das que a cercam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3776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Attention Is All You Need (2017). </a:t>
            </a:r>
            <a:r>
              <a:rPr sz="1300" b="0" i="0">
                <a:solidFill>
                  <a:srgbClr val="C9D6E6"/>
                </a:solidFill>
                <a:latin typeface="Calibri"/>
              </a:rPr>
              <a:t>O Transformer generaliza a atenção do Cap. 5 e elimina a recorrência — cada token atende à sequência inteira, superando a limitação das embeddings estáticas.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É assim que uma palavra ganha um vetor que depende do contexto — a representação contextual que faltava.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6.1.2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Múltiplas cabeças, posição — e a 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Múltiplas cabeças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Várias atenções em paralelo, cada uma num subespaço distinto.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Captam: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relações de tipos diferentes: sintáticas, semânticas, de correferência.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Depois: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concatenam-se — mais riqueza por bloco.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2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1·2·3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Codificação posicional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Injeta a ordem — a auto-atenção é indiferente à permutação.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Como: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padrões senoidais ou vetores aprendidos, somados à entrada.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Por quê: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sem ela, "o drone abateu o alvo" = "o alvo abateu o drone".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↑↑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A paralelização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Sem dependência sequencial, o treino paraleliza.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Efeito: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escalável a volumes de dados e computação antes impensáveis.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Origem: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é da escala, mais que da engenhosidade, que emergem as capacidades.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5604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NOTA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919472"/>
            <a:ext cx="8458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A escala transformou uma diferença de grau em diferença de tipo: modelos maiores exibem capacidades — seguir instruções, aprender no prompt, raciocinar por etapas — que os menores não têm, sem serem programadas. É o comportamento emergente: poderoso e difícil de prever e auditar.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Cada bloco combina atenção e rede feed-forward com conexões residuais e normalização (Cap. 3), empilhados dezenas de vezes.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6.2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Duas famílias: BERT e 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BERT — compreensão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Usa a pilha codificadora; bidirecional (esquerda e direita).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Treino: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prevê palavras mascaradas (masked language modeling).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Brilha em: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classificação, extração de entidades, recuperação.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Resolve: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 ambiguidade de manga (Cap. 5) com embeddings contextuais.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GPT — geração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Usa a pilha decodificadora; autorregressivo.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Modela: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P(xₜ | x₁…xₜ₋₁): prevê a próxima palavra e amostra.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Brilha em: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redação, sumarização, resposta a perguntas, diálogo.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É a base: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dos modelos de instrução e de conversação.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3776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 distinção orienta a escolha da ferramenta. </a:t>
            </a:r>
            <a:r>
              <a:rPr sz="1300" b="0" i="0">
                <a:solidFill>
                  <a:srgbClr val="C9D6E6"/>
                </a:solidFill>
                <a:latin typeface="Calibri"/>
              </a:rPr>
              <a:t>Família BERT para classificar e extrair (mais barata, mais fácil de implantar); família GPT para sintetizar e redigir.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 Transformer original tinha codificador e decodificador; cada família especializou uma metade, com vocações distintas.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6.3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Adaptação: fine-tuning, prompt engineering e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Fine-tuning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Continua o treino sobre dados da tarefa, ajustando os pesos.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Ganho: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melhor acurácia; um modelo que se possui e controla (soberania).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Custo: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dados rotulados e computação (LoRA reduz muito).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2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Prompt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Orienta um modelo congelado só pela formulação do prompt.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Ganho: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flexível, sem treino; aprendizado em contexto (few-shot).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Risco: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menos confiável; via API de terceiros, envia os dados para fora.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RAG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Recupera de uma base o material relevante e o dá como contexto.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Ataca: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os dois maiores problemas: reduz alucinação e adiciona auditabilidade.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Como: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responde a partir das fontes e as cita, sem retreinar.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5604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CONTEXTO
DE DEFESA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919472"/>
            <a:ext cx="8458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Prompt sobre API estrangeira é o caminho mais rápido e o mais arriscado (expõe dados, depende de terceiros). RAG sobre modelo auto-hospedado combina o melhor: conhecimento atual e citável, sem enviar dados sensíveis. A escolha é de opsec e soberania, não só técnica.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 RAG é o padrão que estrutura a aplicação integrada — conhecimento proprietário e atual, com fontes verificáveis.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6.4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LLMs em OSINT: síntese e apoio à decisão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De leitor a revisor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 triagem dos Caps. 4-5 priorizava; os LLMs condensam.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Fazem: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extraem entidades e relações, classificam, resumem, redigem rascunhos.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Ganho: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multiplicador de força onde o volume de fontes é esmagador.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Transformam: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 analista de leitor em revisor.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A sumarização: ganho e risco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Um resumo abstrativo reescreve o original.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Ganho: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condensa grandes volumes num relatório de situação.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Risco: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pode inserir afirmações ausentes do texto — uma forma de alucinação.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Regra: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todo produto para decisão deve ser ancorado e conferido contra as fontes.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3776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Medir, não presumir — também aqui. </a:t>
            </a:r>
            <a:r>
              <a:rPr sz="1300" b="0" i="0">
                <a:solidFill>
                  <a:srgbClr val="C9D6E6"/>
                </a:solidFill>
                <a:latin typeface="Calibri"/>
              </a:rPr>
              <a:t>Para classificar ou extrair, um BERT ajustado (ou a baseline TF-IDF do Cap. 5) costuma ser mais barato, mais rápido e mais auditável do que um grande modelo gerador.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 ganho dos LLMs em inteligência é de síntese — mas todo resumo destinado à decisão volta às fontes.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6.5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Riscos: alucinação, vazamento e dependência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Alucinação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O LLM otimiza plausibilidade, não verdade.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Natureza: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intrínseca ao modelo; fluente, convincente e falsa.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Pior que a lacuna: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uma fabricação confiante induz ao erro sem sinalizar incerteza.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Mitigar: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RAG, citações verificáveis, conferência humana.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2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Vazamento de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Enviar dados sensíveis a uma API de terceiros os expõe.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Onde: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prompts podem ser registrados, inspecionados, usados em treino.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Falha: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de opsec de gravidade evidente em defesa.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Mitigar: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modelos abertos e auto-hospedados, em ambiente próprio.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Dependência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Modelos de fronteira são controlados por atores estrangeiros.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Vulnerabilidade: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 acesso pode ser restringido ou revogado; vieses opacos.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Mitigar: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priorizar modelos soberanos ou abertos, sob controle nacional.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56048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ARMADILHA
COMUM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4919472"/>
            <a:ext cx="8229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Tratar um LLM como fonte de verdade. Ele é um gerador de texto plausível, não uma base de fatos. Alucinação, vazamento e dependência são três formas do mesmo erro: confundir fluência com confiabilidade.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 saída de um LLM é um rascunho a verificar, jamais um veredito — a verificação humana contra fontes é inegociável.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6.6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Aplicação integrada: assistente OSINT com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Um assistente que responde a perguntas do analista </a:t>
            </a:r>
            <a:r>
              <a:rPr sz="1400" b="1" i="0">
                <a:solidFill>
                  <a:srgbClr val="1B3A5F"/>
                </a:solidFill>
                <a:latin typeface="Calibri"/>
              </a:rPr>
              <a:t>a partir de documentos-fonte, citando-os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— a síntese da postura defendida em todo o módulo: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31136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76272"/>
            <a:ext cx="3520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Indexar por embeddings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76272"/>
            <a:ext cx="6400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os documentos-fonte são codificados por embeddings de recuperação (Cap. 5).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44368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054096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72384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17520"/>
            <a:ext cx="3520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Recuperar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017520"/>
            <a:ext cx="6400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a cada pergunta, as passagens mais relevantes por similaridade de cosseno.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85615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895344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13631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58768"/>
            <a:ext cx="3520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Responder ancorado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858768"/>
            <a:ext cx="6400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o gerador usa SOMENTE esse contexto e cita as fontes entre colchetes.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26864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736592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00016"/>
            <a:ext cx="35204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O analista confere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700016"/>
            <a:ext cx="6400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as fontes citadas antes de agir — controle humano significativo (Cap. 10).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5778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A6FA5"/>
                </a:solidFill>
                <a:latin typeface="Calibri"/>
              </a:rPr>
              <a:t>RAG combate a alucinação; a citação torna auditável; o modelo auto-hospedado preserva sigilo e soberania.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 assistente não decide — sintetiza e evidencia, para que um humano decida melhor e mais rápido.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LISTAGEM 6.4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Assistente de análise OSINT com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7040880" cy="4297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6675120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# 1. Indexa os documentos por embeddings de recuperacao.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codificador = SentenceTransformer("...MiniLM-L12-v2")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indice = codificador.encode(documentos,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                    normalize_embeddings=True)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def recuperar(consulta, k=4):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q = codificador.encode([consulta],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                   normalize_embeddings=True)[0]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sim = indice @ q          # cosseno (normalizados)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return list(np.argsort(sim)[::-1][:k])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# 2. Monta o contexto e gera a resposta ancorada.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def responder(consulta):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ids = recuperar(consulta)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contexto = "\n".join(f"[{i}] {documentos[i]}"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                  for i in ids)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prompt = ("Responda USANDO SO o contexto e cite"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      " as fontes. Se nao houver base, diga."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      f"\n{contexto}\nPergunta: {consulta}")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return gerador(prompt)[0], ids   # resposta + fontes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6916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O que observar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148840"/>
            <a:ext cx="37947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recuperação é uma busca por similaridade de cosseno sobre embeddings normalizados.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 prompt instrui a responder SÓ pelo contexto e a citar — e a admitir quando não há base.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resposta devolve os ids das fontes: o analista as confere antes de usar.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Modelo auto-hospedado preserva o sigilo e a soberania (Caps. 9 e 10).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Versão completa e executável no notebook do capítulo, no repositório da obra.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SÍNTESE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Resumo do capítulo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Transformer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1460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auto-atenção softmax(QKᵀ/√dₖ)V; múltiplas cabeças, posição e residuais completam a pilha.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A escala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51460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 paralelização permitiu escalá-lo; da escala emergiram capacidades não programadas.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BERT vs. GPT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251460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codificador (compreender, classificar) e decodificador (gerar, sintetizar).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Adaptação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61772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fine-tuning (controle, custo), prompt (flexível, expõe dados) e RAG (ancora, audita).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OSINT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461772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os LLMs sintetizam — de leitor a revisor; todo produto para decisão volta às fontes.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Três riscos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461772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alucinação, vazamento e dependência — mitigados por RAG, modelos abertos e controle humano.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Capacidade soberana e uso responsável reforçam-se: RAG, citações e auto-hospedagem tornam o LLM empregável.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PARA NÃO ERRAR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Armadilhas comuns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82496"/>
            <a:ext cx="4343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Tratar a saída de um LLM como fato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682496"/>
            <a:ext cx="6080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ele gera texto plausível, não verdade. Ancore em fontes (RAG), exija citações e confira antes de qualquer uso.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6888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51176"/>
            <a:ext cx="4343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Enviar dados sensíveis a uma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551176"/>
            <a:ext cx="6080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cada chamada pode expor informação que não deveria sair do perímetro. Prefira modelos abertos e auto-hospedados.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3756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33756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19856"/>
            <a:ext cx="4343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Construir capacidade sobre modelo estrangeiro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3419856"/>
            <a:ext cx="6080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 acesso pode ser revogado e a soberania, perdida. Priorize modelos soberanos ou abertos, sob controle nacional.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0624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0624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88536"/>
            <a:ext cx="4343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Usar um gerador onde bastava classificador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4288536"/>
            <a:ext cx="6080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para classificar ou extrair, um BERT ajustado (ou o TF-IDF do Cap. 5) é mais barato, rápido e auditável.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7492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07492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57216"/>
            <a:ext cx="4343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Confiar em sumarização sem conferência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5157216"/>
            <a:ext cx="6080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ela reescreve e pode inserir afirmações ausentes. Verifique todo resumo destinado à decisão contra as fontes.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A6FA5"/>
                </a:solidFill>
                <a:latin typeface="Calibri"/>
              </a:rPr>
              <a:t>O comportamento emergente é difícil de prever e auditar: a decisão permanece humana, com controle significativo (Cap. 10).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6.7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O caminho à frente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55680" cy="21031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AFC3DC"/>
                </a:solidFill>
                <a:latin typeface="Calibri"/>
              </a:rPr>
              <a:t>PRÓXIMO CAPÍTULO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entury Schoolbook"/>
              </a:rPr>
              <a:t>Capítulo 7 — Aprendizado por Reforço Profundo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C9D6E6"/>
                </a:solidFill>
                <a:latin typeface="Calibri"/>
              </a:rPr>
              <a:t>Encerra-se o Módulo II — e com ele a percepção. O Módulo III trata da decisão autônoma: como um agente aprende a agir por tentativa e recompensa, dos MDPs ao Deep Q-Network e aos métodos de política.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Fecha o Módulo 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 percepção — visual e textual — do fluxo bruto de dados, do Transformer ao RAG.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O que se percebe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ainda não é o que se decide: o Módulo III põe o modelo a agir, sob apostas maiores.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O que permanece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comparar contra baseline, medir a cauda, validar no emprego e manter o humano na decisão.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Da percepção que informa passamos à decisão que age — e a disciplina torna-se requisito de segurança.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