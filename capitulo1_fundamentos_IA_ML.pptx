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mover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o formato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29B5F2C-1F11-4B99-A639-DDE2379FAA70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14FACC-4C00-41B1-B5B5-33DAEB078F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C57730-AB1D-4E45-B180-9E1702A0E5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836370-D474-41B6-A703-AE63F39DC9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BE89B6-6E8F-41CE-AD2C-46E43094C7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91A077-538A-4CD4-A083-A9A4A87295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BE1D81-073C-43EA-A1CE-5D33678C73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8AEA8D-4EC9-4EC3-AA90-555F589763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ACEBC-783E-4085-B388-6615995530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2DF86-390F-47CE-8C94-8F94E2F74A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77653B-0D79-4644-B5DF-38694A6CB0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71E231-E13C-4C67-8344-B332BDCC23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908F4-2578-4151-9E08-9778BBE6E2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EE0616-13E2-45B0-826A-312FD1CDEA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4514DE-9AD1-471B-8008-47F01BD30D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C5B707-2D7F-441F-AF39-F01E8E38A2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formato do texto do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14.png"/><Relationship Id="rId4" Type="http://schemas.openxmlformats.org/officeDocument/2006/relationships/image" Target="../media/image14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9509760" y="4754880"/>
            <a:ext cx="1279800" cy="1279800"/>
          </a:xfrm>
          <a:prstGeom prst="ellipse">
            <a:avLst/>
          </a:prstGeom>
          <a:noFill/>
          <a:ln w="15240">
            <a:solidFill>
              <a:srgbClr val="8fa8c8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9098280" y="4343400"/>
            <a:ext cx="2102760" cy="2102760"/>
          </a:xfrm>
          <a:prstGeom prst="ellipse">
            <a:avLst/>
          </a:prstGeom>
          <a:noFill/>
          <a:ln w="15240">
            <a:solidFill>
              <a:srgbClr val="8fa8c8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8686800" y="3931920"/>
            <a:ext cx="2925720" cy="2925720"/>
          </a:xfrm>
          <a:prstGeom prst="ellipse">
            <a:avLst/>
          </a:prstGeom>
          <a:noFill/>
          <a:ln w="15240">
            <a:solidFill>
              <a:srgbClr val="8fa8c8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8275320" y="3520440"/>
            <a:ext cx="3748680" cy="3748680"/>
          </a:xfrm>
          <a:prstGeom prst="ellipse">
            <a:avLst/>
          </a:prstGeom>
          <a:noFill/>
          <a:ln w="15240">
            <a:solidFill>
              <a:srgbClr val="8fa8c8">
                <a:alpha val="3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822960" y="7772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7" strike="noStrike">
                <a:solidFill>
                  <a:srgbClr val="afc3dc"/>
                </a:solidFill>
                <a:latin typeface="Calibri"/>
                <a:ea typeface="Calibri"/>
              </a:rPr>
              <a:t>QUANTUM STRATEGIC AI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822960" y="18288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398" strike="noStrike">
                <a:solidFill>
                  <a:srgbClr val="afc3dc"/>
                </a:solidFill>
                <a:latin typeface="Calibri"/>
                <a:ea typeface="Calibri"/>
              </a:rPr>
              <a:t>CAPÍTULO 1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822960" y="2240280"/>
            <a:ext cx="96008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Fundamentos de Inteligência</a:t>
            </a:r>
            <a:endParaRPr b="0" lang="pt-BR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Artificial e Machine Learning</a:t>
            </a:r>
            <a:endParaRPr b="0" lang="pt-B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822960" y="411480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9d6e6"/>
                </a:solidFill>
                <a:latin typeface="Calibri"/>
                <a:ea typeface="Calibri"/>
              </a:rPr>
              <a:t>Dos algoritmos clássicos à IA embarcada em aplicações operacionais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822960" y="5806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afc3dc"/>
                </a:solidFill>
                <a:latin typeface="Calibri"/>
                <a:ea typeface="Calibri"/>
              </a:rPr>
              <a:t>Cristiano Alves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fc3dc"/>
                </a:solidFill>
                <a:latin typeface="Calibri"/>
                <a:ea typeface="Calibri"/>
              </a:rPr>
              <a:t>Módulo I — Fundamentos e Modelos Clássicos · Rio de Janeiro · 2026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ANTES DO ENCONTRO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Objetivos do capítulo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502920" y="1481400"/>
            <a:ext cx="475200" cy="47520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621720" y="16002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60" name="Text 3"/>
          <p:cNvSpPr/>
          <p:nvPr/>
        </p:nvSpPr>
        <p:spPr>
          <a:xfrm>
            <a:off x="1143000" y="1481400"/>
            <a:ext cx="91436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2b2b2b"/>
                </a:solidFill>
                <a:latin typeface="Calibri"/>
                <a:ea typeface="Calibri"/>
              </a:rPr>
              <a:t>Ao final deste capítulo, você será capaz de: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502920" y="2212920"/>
            <a:ext cx="11201040" cy="712800"/>
          </a:xfrm>
          <a:prstGeom prst="roundRect">
            <a:avLst>
              <a:gd name="adj" fmla="val 7692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85800" y="2212920"/>
            <a:ext cx="456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a6fa5"/>
                </a:solidFill>
                <a:latin typeface="Century Schoolbook"/>
                <a:ea typeface="Century Schoolbook"/>
              </a:rPr>
              <a:t>1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234440" y="2212920"/>
            <a:ext cx="10240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alibri"/>
                <a:ea typeface="Calibri"/>
              </a:rPr>
              <a:t>Identificar as três tradições da IA.  </a:t>
            </a:r>
            <a:r>
              <a:rPr b="0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simbólica, conexionista e estatística — e reconhecer como coexistem nos sistemas contemporâneos.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502920" y="3054240"/>
            <a:ext cx="11201040" cy="712800"/>
          </a:xfrm>
          <a:prstGeom prst="roundRect">
            <a:avLst>
              <a:gd name="adj" fmla="val 7692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685800" y="3054240"/>
            <a:ext cx="456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a6fa5"/>
                </a:solidFill>
                <a:latin typeface="Century Schoolbook"/>
                <a:ea typeface="Century Schoolbook"/>
              </a:rPr>
              <a:t>2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1234440" y="3054240"/>
            <a:ext cx="10240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alibri"/>
                <a:ea typeface="Calibri"/>
              </a:rPr>
              <a:t>Situar a evolução histórica da IA.  </a:t>
            </a:r>
            <a:r>
              <a:rPr b="0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articulando avanços científicos, ciclos de investimento e demandas operacionais da defesa.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502920" y="3895200"/>
            <a:ext cx="11201040" cy="712800"/>
          </a:xfrm>
          <a:prstGeom prst="roundRect">
            <a:avLst>
              <a:gd name="adj" fmla="val 7692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685800" y="3895200"/>
            <a:ext cx="456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a6fa5"/>
                </a:solidFill>
                <a:latin typeface="Century Schoolbook"/>
                <a:ea typeface="Century Schoolbook"/>
              </a:rPr>
              <a:t>3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1234440" y="3895200"/>
            <a:ext cx="10240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alibri"/>
                <a:ea typeface="Calibri"/>
              </a:rPr>
              <a:t>Distinguir os três regimes de aprendizado.  </a:t>
            </a:r>
            <a:r>
              <a:rPr b="0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supervisionado, não supervisionado e por reforço — e escolher o adequado a um problema operacional.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502920" y="4736520"/>
            <a:ext cx="11201040" cy="712800"/>
          </a:xfrm>
          <a:prstGeom prst="roundRect">
            <a:avLst>
              <a:gd name="adj" fmla="val 7692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685800" y="4736520"/>
            <a:ext cx="456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a6fa5"/>
                </a:solidFill>
                <a:latin typeface="Century Schoolbook"/>
                <a:ea typeface="Century Schoolbook"/>
              </a:rPr>
              <a:t>4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1234440" y="4736520"/>
            <a:ext cx="10240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alibri"/>
                <a:ea typeface="Calibri"/>
              </a:rPr>
              <a:t>Descrever o pipeline de cinco etapas.  </a:t>
            </a:r>
            <a:r>
              <a:rPr b="0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dados, modelo, avaliação, implantação e operação — e por que a última é a mais difícil em defesa.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502920" y="5577840"/>
            <a:ext cx="11201040" cy="712800"/>
          </a:xfrm>
          <a:prstGeom prst="roundRect">
            <a:avLst>
              <a:gd name="adj" fmla="val 7692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685800" y="5577840"/>
            <a:ext cx="4568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4a6fa5"/>
                </a:solidFill>
                <a:latin typeface="Century Schoolbook"/>
                <a:ea typeface="Century Schoolbook"/>
              </a:rPr>
              <a:t>5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1234440" y="5577840"/>
            <a:ext cx="10240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alibri"/>
                <a:ea typeface="Calibri"/>
              </a:rPr>
              <a:t>Articular a noção de autonomia tecnológica.  </a:t>
            </a:r>
            <a:r>
              <a:rPr b="0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central à Estratégia Nacional de Defesa, identificando onde a dependência externa vira risco.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2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CAPÍTULO DE ORIENTAÇÃO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Quatro perguntas que dão sentido a tudo o que vem depois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502920" y="1737360"/>
            <a:ext cx="2678760" cy="3291480"/>
          </a:xfrm>
          <a:prstGeom prst="roundRect">
            <a:avLst>
              <a:gd name="adj" fmla="val 2730"/>
            </a:avLst>
          </a:prstGeom>
          <a:solidFill>
            <a:srgbClr val="edf1f7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731520" y="19659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4a6fa5"/>
                </a:solidFill>
                <a:latin typeface="Calibri"/>
                <a:ea typeface="Calibri"/>
              </a:rPr>
              <a:t>§ 1.1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731520" y="2331720"/>
            <a:ext cx="2285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 que é, afinal,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Inteligência Artificial?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731520" y="397764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As três tradições da IA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3364920" y="1737360"/>
            <a:ext cx="2678760" cy="3291480"/>
          </a:xfrm>
          <a:prstGeom prst="roundRect">
            <a:avLst>
              <a:gd name="adj" fmla="val 2730"/>
            </a:avLst>
          </a:prstGeom>
          <a:solidFill>
            <a:srgbClr val="edf1f7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3593520" y="19659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4a6fa5"/>
                </a:solidFill>
                <a:latin typeface="Calibri"/>
                <a:ea typeface="Calibri"/>
              </a:rPr>
              <a:t>§ 1.2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3593520" y="2331720"/>
            <a:ext cx="2285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Como ela chegou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ao ponto em que está?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3593520" y="397764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Um breve histórico, sob a ótica da defesa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226920" y="1737360"/>
            <a:ext cx="2678760" cy="3291480"/>
          </a:xfrm>
          <a:prstGeom prst="roundRect">
            <a:avLst>
              <a:gd name="adj" fmla="val 2730"/>
            </a:avLst>
          </a:prstGeom>
          <a:solidFill>
            <a:srgbClr val="edf1f7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6455520" y="19659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4a6fa5"/>
                </a:solidFill>
                <a:latin typeface="Calibri"/>
                <a:ea typeface="Calibri"/>
              </a:rPr>
              <a:t>§ 1.3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6455520" y="2331720"/>
            <a:ext cx="2285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De que formas um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sistema pode aprender?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6455520" y="397764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Os três regimes de aprendizado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9089280" y="1737360"/>
            <a:ext cx="2678760" cy="3291480"/>
          </a:xfrm>
          <a:prstGeom prst="roundRect">
            <a:avLst>
              <a:gd name="adj" fmla="val 2730"/>
            </a:avLst>
          </a:prstGeom>
          <a:solidFill>
            <a:srgbClr val="edf1f7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9317880" y="196596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4a6fa5"/>
                </a:solidFill>
                <a:latin typeface="Calibri"/>
                <a:ea typeface="Calibri"/>
              </a:rPr>
              <a:t>§ 1.4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9317880" y="2331720"/>
            <a:ext cx="2285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Que etapas compõem um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projeto que se implanta?</a:t>
            </a:r>
            <a:endParaRPr b="0" lang="pt-BR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9317880" y="397764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O pipeline de machine learning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502920" y="548640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2b2b2b"/>
                </a:solidFill>
                <a:latin typeface="Calibri"/>
                <a:ea typeface="Calibri"/>
              </a:rPr>
              <a:t>A resposta à quarta pergunta organiza o livro inteiro: </a:t>
            </a:r>
            <a:r>
              <a:rPr b="1" i="1" lang="en-US" sz="1450" spc="-1" strike="noStrike">
                <a:solidFill>
                  <a:srgbClr val="1b3a5f"/>
                </a:solidFill>
                <a:latin typeface="Calibri"/>
                <a:ea typeface="Calibri"/>
              </a:rPr>
              <a:t>a passagem do problema operacional ao modelo implantado</a:t>
            </a:r>
            <a:r>
              <a:rPr b="0" i="1" lang="en-US" sz="1450" spc="-1" strike="noStrike">
                <a:solidFill>
                  <a:srgbClr val="2b2b2b"/>
                </a:solidFill>
                <a:latin typeface="Calibri"/>
                <a:ea typeface="Calibri"/>
              </a:rPr>
              <a:t> — e não apenas demonstrado.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As três tradições da Inteligência Artificial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502920" y="1600200"/>
            <a:ext cx="3611520" cy="4160160"/>
          </a:xfrm>
          <a:prstGeom prst="roundRect">
            <a:avLst>
              <a:gd name="adj" fmla="val 2025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777240" y="1874520"/>
            <a:ext cx="566640" cy="56664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 0" descr="preencoded.png"/>
          <p:cNvPicPr/>
          <p:nvPr/>
        </p:nvPicPr>
        <p:blipFill>
          <a:blip r:embed="rId1"/>
          <a:stretch/>
        </p:blipFill>
        <p:spPr>
          <a:xfrm>
            <a:off x="914400" y="2011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04" name="Text 4"/>
          <p:cNvSpPr/>
          <p:nvPr/>
        </p:nvSpPr>
        <p:spPr>
          <a:xfrm>
            <a:off x="1508760" y="187452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Simbólica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777240" y="265176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Inteligência é manipulação de símbolos segundo regras explícitas (GOFAI).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777240" y="3611880"/>
            <a:ext cx="31086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Sistemas especialistas, motores de inferência, planners.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Força: explicabilidade — cada conclusão rastreia à regra.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Fraqueza: fragilidade em percepção, dados ruidosos.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4325040" y="1600200"/>
            <a:ext cx="3611520" cy="4160160"/>
          </a:xfrm>
          <a:prstGeom prst="roundRect">
            <a:avLst>
              <a:gd name="adj" fmla="val 2025"/>
            </a:avLst>
          </a:prstGeom>
          <a:solidFill>
            <a:srgbClr val="edf1f7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4599360" y="1874520"/>
            <a:ext cx="566640" cy="56664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9" name="Image 1" descr="preencoded.png"/>
          <p:cNvPicPr/>
          <p:nvPr/>
        </p:nvPicPr>
        <p:blipFill>
          <a:blip r:embed="rId2"/>
          <a:stretch/>
        </p:blipFill>
        <p:spPr>
          <a:xfrm>
            <a:off x="4736520" y="2011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10" name="Text 9"/>
          <p:cNvSpPr/>
          <p:nvPr/>
        </p:nvSpPr>
        <p:spPr>
          <a:xfrm>
            <a:off x="5330880" y="187452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Conexionista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4599360" y="265176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Inteligência é propagação de ativações em redes de unidades elementares.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4599360" y="3611880"/>
            <a:ext cx="31086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Do perceptron (1958) ao deep learning atual.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Força: percepção em alta dimensionalidade e escala.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Fraqueza: na forma bruta, não se justifica (caixa-preta).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8147160" y="1600200"/>
            <a:ext cx="3611520" cy="4160160"/>
          </a:xfrm>
          <a:prstGeom prst="roundRect">
            <a:avLst>
              <a:gd name="adj" fmla="val 2025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8421480" y="1874520"/>
            <a:ext cx="566640" cy="56664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2" descr="preencoded.png"/>
          <p:cNvPicPr/>
          <p:nvPr/>
        </p:nvPicPr>
        <p:blipFill>
          <a:blip r:embed="rId3"/>
          <a:stretch/>
        </p:blipFill>
        <p:spPr>
          <a:xfrm>
            <a:off x="8558640" y="20116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16" name="Text 14"/>
          <p:cNvSpPr/>
          <p:nvPr/>
        </p:nvSpPr>
        <p:spPr>
          <a:xfrm>
            <a:off x="9153000" y="187452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Estatística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8421480" y="265176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Inteligência é inferência sob incerteza a partir de amostras.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8421480" y="3611880"/>
            <a:ext cx="31086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Regressão, árvores, ensembles, SVMs, modelos gráficos.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Força: rigor da medida de incerteza — predição + confiança.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Fraqueza: menos visível na divulgação, decisiva na prática.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502920" y="594360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a6b80"/>
                </a:solidFill>
                <a:latin typeface="Calibri"/>
                <a:ea typeface="Calibri"/>
              </a:rPr>
              <a:t>Três respostas distintas à pergunta: o que é, computacionalmente, um comportamento inteligente?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8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4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1.1.4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Como as três tradições convivem: arquiteturas híbridas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502920" y="15544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2b2b2b"/>
                </a:solidFill>
                <a:latin typeface="Calibri"/>
                <a:ea typeface="Calibri"/>
              </a:rPr>
              <a:t>Exemplo real — sistema de visão de uma aeronave remotamente pilotada: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640080" y="2148840"/>
            <a:ext cx="3245760" cy="1691280"/>
          </a:xfrm>
          <a:prstGeom prst="roundRect">
            <a:avLst>
              <a:gd name="adj" fmla="val 4324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868680" y="23317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4a6fa5"/>
                </a:solidFill>
                <a:latin typeface="Calibri"/>
                <a:ea typeface="Calibri"/>
              </a:rPr>
              <a:t>CONEXIONISTA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868680" y="265176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Rede convolucional profunda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868680" y="32918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detecta alvos na imagem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3886200" y="2606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a6fa5"/>
                </a:solidFill>
                <a:latin typeface="Calibri"/>
                <a:ea typeface="Calibri"/>
              </a:rPr>
              <a:t>→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617720" y="2148840"/>
            <a:ext cx="3245760" cy="1691280"/>
          </a:xfrm>
          <a:prstGeom prst="roundRect">
            <a:avLst>
              <a:gd name="adj" fmla="val 4324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4846320" y="23317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4a6fa5"/>
                </a:solidFill>
                <a:latin typeface="Calibri"/>
                <a:ea typeface="Calibri"/>
              </a:rPr>
              <a:t>ESTATÍSTICA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4846320" y="265176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Filtro de Kalman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4846320" y="32918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rastreia as detecções no tempo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7863840" y="26060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4a6fa5"/>
                </a:solidFill>
                <a:latin typeface="Calibri"/>
                <a:ea typeface="Calibri"/>
              </a:rPr>
              <a:t>→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8595360" y="2148840"/>
            <a:ext cx="3245760" cy="1691280"/>
          </a:xfrm>
          <a:prstGeom prst="roundRect">
            <a:avLst>
              <a:gd name="adj" fmla="val 4324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8823960" y="23317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4a6fa5"/>
                </a:solidFill>
                <a:latin typeface="Calibri"/>
                <a:ea typeface="Calibri"/>
              </a:rPr>
              <a:t>SIMBÓLICA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8823960" y="265176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Motor de regras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8823960" y="32918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impõe o envelope operacional autorizado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7"/>
          <p:cNvSpPr/>
          <p:nvPr/>
        </p:nvSpPr>
        <p:spPr>
          <a:xfrm>
            <a:off x="502920" y="4206240"/>
            <a:ext cx="11201040" cy="1965600"/>
          </a:xfrm>
          <a:prstGeom prst="roundRect">
            <a:avLst>
              <a:gd name="adj" fmla="val 3721"/>
            </a:avLst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822960" y="443484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41" name="Text 18"/>
          <p:cNvSpPr/>
          <p:nvPr/>
        </p:nvSpPr>
        <p:spPr>
          <a:xfrm>
            <a:off x="1280160" y="4407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Contexto de defesa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822960" y="4846320"/>
            <a:ext cx="106066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4ebf4"/>
                </a:solidFill>
                <a:latin typeface="Calibri"/>
                <a:ea typeface="Calibri"/>
              </a:rPr>
              <a:t>Cada tradição responde de forma distinta à exigência de rastreabilidade: o simbólico explica a regra aplicada; o estatístico exibe a distribuição e o intervalo de confiança; a rede profunda, na forma bruta, não se justifica — daí o investimento em XAI e em invariantes simbólicas auditáveis. </a:t>
            </a:r>
            <a:r>
              <a:rPr b="1" i="1" lang="en-US" sz="1250" spc="-1" strike="noStrike">
                <a:solidFill>
                  <a:srgbClr val="e4ebf4"/>
                </a:solidFill>
                <a:latin typeface="Calibri"/>
                <a:ea typeface="Calibri"/>
              </a:rPr>
              <a:t>Saber qual tradição opera em cada componente é saber quem responde quando o sistema erra.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20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5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Um breve histórico, sob a ótica da defesa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502920" y="14814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b80"/>
                </a:solidFill>
                <a:latin typeface="Calibri"/>
                <a:ea typeface="Calibri"/>
              </a:rPr>
              <a:t>Nenhum dos grandes saltos da IA aconteceu fora do contexto militar.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731520" y="3703320"/>
            <a:ext cx="10698480" cy="360"/>
          </a:xfrm>
          <a:prstGeom prst="line">
            <a:avLst/>
          </a:prstGeom>
          <a:ln w="25400">
            <a:solidFill>
              <a:srgbClr val="4a6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1719000" y="3620880"/>
            <a:ext cx="164160" cy="16416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777240" y="2011680"/>
            <a:ext cx="2048040" cy="1481040"/>
          </a:xfrm>
          <a:prstGeom prst="roundRect">
            <a:avLst>
              <a:gd name="adj" fmla="val 3704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05400" y="20847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4a6fa5"/>
                </a:solidFill>
                <a:latin typeface="Calibri"/>
                <a:ea typeface="Calibri"/>
              </a:rPr>
              <a:t>1940–1956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905400" y="23407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Cibernética a Dartmouth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905400" y="2651760"/>
            <a:ext cx="182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2b2b2b"/>
                </a:solidFill>
                <a:latin typeface="Calibri"/>
                <a:ea typeface="Calibri"/>
              </a:rPr>
              <a:t>Bletchley Park, ENIAC balístico, Wiener e a mira antiaérea. A IA nasce em terreno pavimentado por financiamento militar.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1801080" y="3492720"/>
            <a:ext cx="360" cy="210600"/>
          </a:xfrm>
          <a:prstGeom prst="line">
            <a:avLst/>
          </a:prstGeom>
          <a:ln w="12700">
            <a:solidFill>
              <a:srgbClr val="4a6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3858840" y="3620880"/>
            <a:ext cx="164160" cy="16416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2917080" y="4023360"/>
            <a:ext cx="2048040" cy="148104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3044880" y="40964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4a6fa5"/>
                </a:solidFill>
                <a:latin typeface="Calibri"/>
                <a:ea typeface="Calibri"/>
              </a:rPr>
              <a:t>1956–1980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3044880" y="43524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Entusiasmo e 1º inverno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3044880" y="4663440"/>
            <a:ext cx="182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2b2b2b"/>
                </a:solidFill>
                <a:latin typeface="Calibri"/>
                <a:ea typeface="Calibri"/>
              </a:rPr>
              <a:t>GPS, SHRDLU; Perceptrons (1969) e relatório Lighthill (1973). Falha em calibrar expectativas — padrão que se repetiria.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3940920" y="3703320"/>
            <a:ext cx="360" cy="320040"/>
          </a:xfrm>
          <a:prstGeom prst="line">
            <a:avLst/>
          </a:prstGeom>
          <a:ln w="12700">
            <a:solidFill>
              <a:srgbClr val="4a6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6"/>
          <p:cNvSpPr/>
          <p:nvPr/>
        </p:nvSpPr>
        <p:spPr>
          <a:xfrm>
            <a:off x="5998320" y="3620880"/>
            <a:ext cx="164160" cy="16416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5056560" y="2011680"/>
            <a:ext cx="2048040" cy="1481040"/>
          </a:xfrm>
          <a:prstGeom prst="roundRect">
            <a:avLst>
              <a:gd name="adj" fmla="val 3704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5184720" y="20847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4a6fa5"/>
                </a:solidFill>
                <a:latin typeface="Calibri"/>
                <a:ea typeface="Calibri"/>
              </a:rPr>
              <a:t>1980–1995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5184720" y="23407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Especialistas e 2º inverno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5184720" y="2651760"/>
            <a:ext cx="182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2b2b2b"/>
                </a:solidFill>
                <a:latin typeface="Calibri"/>
                <a:ea typeface="Calibri"/>
              </a:rPr>
              <a:t>MYCIN, XCON, Fifth Generation, Strategic Computing (DARPA). Engenharia de conhecimento cara e frágil.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1"/>
          <p:cNvSpPr/>
          <p:nvPr/>
        </p:nvSpPr>
        <p:spPr>
          <a:xfrm>
            <a:off x="6080760" y="3492720"/>
            <a:ext cx="360" cy="210600"/>
          </a:xfrm>
          <a:prstGeom prst="line">
            <a:avLst/>
          </a:prstGeom>
          <a:ln w="12700">
            <a:solidFill>
              <a:srgbClr val="4a6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8138160" y="3620880"/>
            <a:ext cx="164160" cy="16416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7196400" y="4023360"/>
            <a:ext cx="2048040" cy="1481040"/>
          </a:xfrm>
          <a:prstGeom prst="roundRect">
            <a:avLst>
              <a:gd name="adj" fmla="val 3704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7324200" y="409644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4a6fa5"/>
                </a:solidFill>
                <a:latin typeface="Calibri"/>
                <a:ea typeface="Calibri"/>
              </a:rPr>
              <a:t>1995–2012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7324200" y="43524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Estatística e maturação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7324200" y="4663440"/>
            <a:ext cx="182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2b2b2b"/>
                </a:solidFill>
                <a:latin typeface="Calibri"/>
                <a:ea typeface="Calibri"/>
              </a:rPr>
              <a:t>SVMs, boosting, random forests. A IA se dissolve em machine learning: robustez sob incerteza, em larga escala.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8220240" y="3703320"/>
            <a:ext cx="360" cy="320040"/>
          </a:xfrm>
          <a:prstGeom prst="line">
            <a:avLst/>
          </a:prstGeom>
          <a:ln w="12700">
            <a:solidFill>
              <a:srgbClr val="4a6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8"/>
          <p:cNvSpPr/>
          <p:nvPr/>
        </p:nvSpPr>
        <p:spPr>
          <a:xfrm>
            <a:off x="10278000" y="3620880"/>
            <a:ext cx="164160" cy="16416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29"/>
          <p:cNvSpPr/>
          <p:nvPr/>
        </p:nvSpPr>
        <p:spPr>
          <a:xfrm>
            <a:off x="9335880" y="2011680"/>
            <a:ext cx="2048040" cy="1481040"/>
          </a:xfrm>
          <a:prstGeom prst="roundRect">
            <a:avLst>
              <a:gd name="adj" fmla="val 3704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30"/>
          <p:cNvSpPr/>
          <p:nvPr/>
        </p:nvSpPr>
        <p:spPr>
          <a:xfrm>
            <a:off x="9464040" y="20847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4a6fa5"/>
                </a:solidFill>
                <a:latin typeface="Calibri"/>
                <a:ea typeface="Calibri"/>
              </a:rPr>
              <a:t>2012–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31"/>
          <p:cNvSpPr/>
          <p:nvPr/>
        </p:nvSpPr>
        <p:spPr>
          <a:xfrm>
            <a:off x="9464040" y="23407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Aprendizado profundo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2"/>
          <p:cNvSpPr/>
          <p:nvPr/>
        </p:nvSpPr>
        <p:spPr>
          <a:xfrm>
            <a:off x="9464040" y="2651760"/>
            <a:ext cx="182844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60" spc="-1" strike="noStrike">
                <a:solidFill>
                  <a:srgbClr val="2b2b2b"/>
                </a:solidFill>
                <a:latin typeface="Calibri"/>
                <a:ea typeface="Calibri"/>
              </a:rPr>
              <a:t>AlexNet/ImageNet (2012), Transformers, LLMs. Agenda de defesa explícita: Project Maven (2017).</a:t>
            </a:r>
            <a:endParaRPr b="0" lang="pt-BR" sz="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3"/>
          <p:cNvSpPr/>
          <p:nvPr/>
        </p:nvSpPr>
        <p:spPr>
          <a:xfrm>
            <a:off x="10360080" y="3492720"/>
            <a:ext cx="360" cy="210600"/>
          </a:xfrm>
          <a:prstGeom prst="line">
            <a:avLst/>
          </a:prstGeom>
          <a:ln w="12700">
            <a:solidFill>
              <a:srgbClr val="4a6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34"/>
          <p:cNvSpPr/>
          <p:nvPr/>
        </p:nvSpPr>
        <p:spPr>
          <a:xfrm>
            <a:off x="502920" y="5806440"/>
            <a:ext cx="11155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a6b80"/>
                </a:solidFill>
                <a:latin typeface="Calibri"/>
                <a:ea typeface="Calibri"/>
              </a:rPr>
              <a:t>O ponto de inflexão é datável com precisão: setembro de 2012, competição ImageNet — a AlexNet reduziu o erro à metade do segundo colocado.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5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6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6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1.2.6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 defesa como driver e consumidor da IA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502920" y="1600200"/>
            <a:ext cx="5440320" cy="2514240"/>
          </a:xfrm>
          <a:prstGeom prst="roundRect">
            <a:avLst>
              <a:gd name="adj" fmla="val 2909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777240" y="17830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4a6fa5"/>
                </a:solidFill>
                <a:latin typeface="Calibri"/>
                <a:ea typeface="Calibri"/>
              </a:rPr>
              <a:t>DRIVER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777240" y="2121480"/>
            <a:ext cx="4891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O financiamento de defesa direciona agendas que talvez não emergissem do mercado civil: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777240" y="2743200"/>
            <a:ext cx="4891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Visão computacional em imagens SAR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Sinais em ambientes adversariais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Reforço em simulação de combate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Robustez sob ataque deliberado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6"/>
          <p:cNvSpPr/>
          <p:nvPr/>
        </p:nvSpPr>
        <p:spPr>
          <a:xfrm>
            <a:off x="6263640" y="1600200"/>
            <a:ext cx="5440320" cy="2514240"/>
          </a:xfrm>
          <a:prstGeom prst="roundRect">
            <a:avLst>
              <a:gd name="adj" fmla="val 2909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6537960" y="17830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4a6fa5"/>
                </a:solidFill>
                <a:latin typeface="Calibri"/>
                <a:ea typeface="Calibri"/>
              </a:rPr>
              <a:t>CONSUMIDOR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6537960" y="2121480"/>
            <a:ext cx="4891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Adota — com atraso, por exigências de certificação — o que se consolidou no mundo civil: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9"/>
          <p:cNvSpPr/>
          <p:nvPr/>
        </p:nvSpPr>
        <p:spPr>
          <a:xfrm>
            <a:off x="6537960" y="2743200"/>
            <a:ext cx="4891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Modelos e arquiteturas maduros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Descompasso: pesquisa × requisitos × regulação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Tensões que reaparecem no Capítulo 10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Certificação como condição de emprego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0"/>
          <p:cNvSpPr/>
          <p:nvPr/>
        </p:nvSpPr>
        <p:spPr>
          <a:xfrm>
            <a:off x="502920" y="4343400"/>
            <a:ext cx="11201040" cy="1828440"/>
          </a:xfrm>
          <a:prstGeom prst="roundRect">
            <a:avLst>
              <a:gd name="adj" fmla="val 4000"/>
            </a:avLst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822960" y="457200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94" name="Text 11"/>
          <p:cNvSpPr/>
          <p:nvPr/>
        </p:nvSpPr>
        <p:spPr>
          <a:xfrm>
            <a:off x="1280160" y="45446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Contexto de defesa — Estratégia Nacional de Defesa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822960" y="4983480"/>
            <a:ext cx="10606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4ebf4"/>
                </a:solidFill>
                <a:latin typeface="Calibri"/>
                <a:ea typeface="Calibri"/>
              </a:rPr>
              <a:t>A END identifica a IA como área em que a dependência externa se torna risco operacional. Adotar acriticamente modelos pré-treinados em datasets estrangeiros — em que a Amazônia ou a Amazônia Azul aparecem mal ou não aparecem — é importar um viés geográfico no produto final. </a:t>
            </a:r>
            <a:r>
              <a:rPr b="1" i="1" lang="en-US" sz="1250" spc="-1" strike="noStrike">
                <a:solidFill>
                  <a:srgbClr val="e4ebf4"/>
                </a:solidFill>
                <a:latin typeface="Calibri"/>
                <a:ea typeface="Calibri"/>
              </a:rPr>
              <a:t>Construir soberanamente é controlar a cadeia dos dados de coleta ao modelo implantado.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7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Os três regimes de aprendizado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502920" y="1554480"/>
            <a:ext cx="3611520" cy="4571640"/>
          </a:xfrm>
          <a:prstGeom prst="roundRect">
            <a:avLst>
              <a:gd name="adj" fmla="val 2025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758880" y="1783080"/>
            <a:ext cx="511560" cy="511560"/>
          </a:xfrm>
          <a:prstGeom prst="ellipse">
            <a:avLst/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1"/>
          <a:stretch/>
        </p:blipFill>
        <p:spPr>
          <a:xfrm>
            <a:off x="887040" y="1911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03" name="Text 4"/>
          <p:cNvSpPr/>
          <p:nvPr/>
        </p:nvSpPr>
        <p:spPr>
          <a:xfrm>
            <a:off x="1417320" y="1783080"/>
            <a:ext cx="2605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Supervisionado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58880" y="24872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Dados rotulados: para cada entrada x, conhecemos a saída y. Ajustar f(x) ≈ y — inclusive para pares novos.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6"/>
          <p:cNvSpPr/>
          <p:nvPr/>
        </p:nvSpPr>
        <p:spPr>
          <a:xfrm>
            <a:off x="758880" y="365760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a6b80"/>
                </a:solidFill>
                <a:latin typeface="Calibri"/>
                <a:ea typeface="Calibri"/>
              </a:rPr>
              <a:t>Classificação (y categórico) ou regressão (y contínuo).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7"/>
          <p:cNvSpPr/>
          <p:nvPr/>
        </p:nvSpPr>
        <p:spPr>
          <a:xfrm>
            <a:off x="758880" y="426096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6fa5"/>
                </a:solidFill>
                <a:latin typeface="Calibri"/>
                <a:ea typeface="Calibri"/>
              </a:rPr>
              <a:t>Em defesa: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8"/>
          <p:cNvSpPr/>
          <p:nvPr/>
        </p:nvSpPr>
        <p:spPr>
          <a:xfrm>
            <a:off x="758880" y="4498920"/>
            <a:ext cx="3108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Assinaturas acústicas navais · detecção de alvos em imagens · previsão de falha de componente.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9"/>
          <p:cNvSpPr/>
          <p:nvPr/>
        </p:nvSpPr>
        <p:spPr>
          <a:xfrm>
            <a:off x="758880" y="5394960"/>
            <a:ext cx="3108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20" spc="-1" strike="noStrike">
                <a:solidFill>
                  <a:srgbClr val="1b3a5f"/>
                </a:solidFill>
                <a:latin typeface="Calibri"/>
                <a:ea typeface="Calibri"/>
              </a:rPr>
              <a:t>Gargalo: a rotulagem — o tempo do especialista é a matéria-prima do projeto.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0"/>
          <p:cNvSpPr/>
          <p:nvPr/>
        </p:nvSpPr>
        <p:spPr>
          <a:xfrm>
            <a:off x="4325040" y="1554480"/>
            <a:ext cx="3611520" cy="4571640"/>
          </a:xfrm>
          <a:prstGeom prst="roundRect">
            <a:avLst>
              <a:gd name="adj" fmla="val 2025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1"/>
          <p:cNvSpPr/>
          <p:nvPr/>
        </p:nvSpPr>
        <p:spPr>
          <a:xfrm>
            <a:off x="4581000" y="1783080"/>
            <a:ext cx="511560" cy="511560"/>
          </a:xfrm>
          <a:prstGeom prst="ellipse">
            <a:avLst/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Image 1" descr="preencoded.png"/>
          <p:cNvPicPr/>
          <p:nvPr/>
        </p:nvPicPr>
        <p:blipFill>
          <a:blip r:embed="rId2"/>
          <a:stretch/>
        </p:blipFill>
        <p:spPr>
          <a:xfrm>
            <a:off x="4709160" y="1911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12" name="Text 12"/>
          <p:cNvSpPr/>
          <p:nvPr/>
        </p:nvSpPr>
        <p:spPr>
          <a:xfrm>
            <a:off x="5239440" y="1783080"/>
            <a:ext cx="2605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Não supervisionado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4581000" y="24872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Apenas entradas x, sem rótulo. Descobrir estrutura: agrupamentos, eixos de variação, densidades, anomalias.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4581000" y="365760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a6b80"/>
                </a:solidFill>
                <a:latin typeface="Calibri"/>
                <a:ea typeface="Calibri"/>
              </a:rPr>
              <a:t>Clustering, redução de dimensionalidade, detecção de anomalias.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4581000" y="426096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6fa5"/>
                </a:solidFill>
                <a:latin typeface="Calibri"/>
                <a:ea typeface="Calibri"/>
              </a:rPr>
              <a:t>Em defesa: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6"/>
          <p:cNvSpPr/>
          <p:nvPr/>
        </p:nvSpPr>
        <p:spPr>
          <a:xfrm>
            <a:off x="4581000" y="4498920"/>
            <a:ext cx="3108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Tráfego de rede atípico · movimentos suspeitos em fronteira · publicações coordenadas em redes.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4581000" y="5394960"/>
            <a:ext cx="3108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20" spc="-1" strike="noStrike">
                <a:solidFill>
                  <a:srgbClr val="1b3a5f"/>
                </a:solidFill>
                <a:latin typeface="Calibri"/>
                <a:ea typeface="Calibri"/>
              </a:rPr>
              <a:t>Ocupa a exploração inicial e a vigilância de comportamento.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8147160" y="1554480"/>
            <a:ext cx="3611520" cy="4571640"/>
          </a:xfrm>
          <a:prstGeom prst="roundRect">
            <a:avLst>
              <a:gd name="adj" fmla="val 2025"/>
            </a:avLst>
          </a:prstGeom>
          <a:solidFill>
            <a:srgbClr val="f6f8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8403480" y="1783080"/>
            <a:ext cx="511560" cy="511560"/>
          </a:xfrm>
          <a:prstGeom prst="ellipse">
            <a:avLst/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0" name="Image 2" descr="preencoded.png"/>
          <p:cNvPicPr/>
          <p:nvPr/>
        </p:nvPicPr>
        <p:blipFill>
          <a:blip r:embed="rId3"/>
          <a:stretch/>
        </p:blipFill>
        <p:spPr>
          <a:xfrm>
            <a:off x="8531280" y="1911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1" name="Text 20"/>
          <p:cNvSpPr/>
          <p:nvPr/>
        </p:nvSpPr>
        <p:spPr>
          <a:xfrm>
            <a:off x="9061560" y="1783080"/>
            <a:ext cx="2605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Por reforço</a:t>
            </a:r>
            <a:endParaRPr b="0" lang="pt-BR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8403480" y="24872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b2b2b"/>
                </a:solidFill>
                <a:latin typeface="Calibri"/>
                <a:ea typeface="Calibri"/>
              </a:rPr>
              <a:t>Um agente interage com um ambiente, escolhendo ações e recebendo recompensas. Descobrir a política que maximiza o retorno.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8403480" y="3657600"/>
            <a:ext cx="3108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a6b80"/>
                </a:solidFill>
                <a:latin typeface="Calibri"/>
                <a:ea typeface="Calibri"/>
              </a:rPr>
              <a:t>Q-learning, SARSA; profundos: DQN, PPO, A3C.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8403480" y="4260960"/>
            <a:ext cx="3108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6fa5"/>
                </a:solidFill>
                <a:latin typeface="Calibri"/>
                <a:ea typeface="Calibri"/>
              </a:rPr>
              <a:t>Em defesa: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8403480" y="4498920"/>
            <a:ext cx="3108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2b2b2b"/>
                </a:solidFill>
                <a:latin typeface="Calibri"/>
                <a:ea typeface="Calibri"/>
              </a:rPr>
              <a:t>Trajetórias de plataformas autônomas · alocação dinâmica de recursos · controle de enxames.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8403480" y="5394960"/>
            <a:ext cx="31086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20" spc="-1" strike="noStrike">
                <a:solidFill>
                  <a:srgbClr val="1b3a5f"/>
                </a:solidFill>
                <a:latin typeface="Calibri"/>
                <a:ea typeface="Calibri"/>
              </a:rPr>
              <a:t>O regime mais próximo da decisão autônoma — e o mais delicado (Caps. 7 e 10).</a:t>
            </a:r>
            <a:endParaRPr b="0" lang="pt-BR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8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1.3 — BOA PRÁTICA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 primeira decisão estratégica não é o algoritmo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502920" y="160020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b2b2b"/>
                </a:solidFill>
                <a:latin typeface="Calibri"/>
                <a:ea typeface="Calibri"/>
              </a:rPr>
              <a:t>A primeira decisão técnica de qualquer projeto operacional é a </a:t>
            </a:r>
            <a:r>
              <a:rPr b="1" lang="en-US" sz="1600" spc="-1" strike="noStrike">
                <a:solidFill>
                  <a:srgbClr val="1b3a5f"/>
                </a:solidFill>
                <a:latin typeface="Calibri"/>
                <a:ea typeface="Calibri"/>
              </a:rPr>
              <a:t>escolha do regime de aprendizado</a:t>
            </a:r>
            <a:r>
              <a:rPr b="0" lang="en-US" sz="1600" spc="-1" strike="noStrike">
                <a:solidFill>
                  <a:srgbClr val="2b2b2b"/>
                </a:solidFill>
                <a:latin typeface="Calibri"/>
                <a:ea typeface="Calibri"/>
              </a:rPr>
              <a:t> — antes de qualquer algoritmo específico, antes de qualquer biblioteca.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502920" y="2331720"/>
            <a:ext cx="11201040" cy="1737000"/>
          </a:xfrm>
          <a:prstGeom prst="roundRect">
            <a:avLst>
              <a:gd name="adj" fmla="val 4211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822960" y="25419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 erro frequente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822960" y="290772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b2b2b"/>
                </a:solidFill>
                <a:latin typeface="Calibri"/>
                <a:ea typeface="Calibri"/>
              </a:rPr>
              <a:t>A equipe se compromete cedo com aprendizado supervisionado — o regime mais ensinado — e descobre tarde que não tem rótulos confiáveis, ou que os rótulos foram gerados por um processo enviesado que o modelo aprenderá a reproduzir.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502920" y="43434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b80"/>
                </a:solidFill>
                <a:latin typeface="Calibri"/>
                <a:ea typeface="Calibri"/>
              </a:rPr>
              <a:t>Reserve um workshop dedicado à decisão, na fase inicial, com quatro perguntas: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502920" y="4846320"/>
            <a:ext cx="2678760" cy="95976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685800" y="4846320"/>
            <a:ext cx="2331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Este problema admite rótulos?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3364920" y="4846320"/>
            <a:ext cx="2678760" cy="95976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3547800" y="4846320"/>
            <a:ext cx="2331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Em que escala?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6226920" y="4846320"/>
            <a:ext cx="2678760" cy="95976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6409800" y="4846320"/>
            <a:ext cx="2331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 que custo?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9089280" y="4846320"/>
            <a:ext cx="2678760" cy="95976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4"/>
          <p:cNvSpPr/>
          <p:nvPr/>
        </p:nvSpPr>
        <p:spPr>
          <a:xfrm>
            <a:off x="9272160" y="4846320"/>
            <a:ext cx="2331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Com que viés sistemático?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5"/>
          <p:cNvSpPr/>
          <p:nvPr/>
        </p:nvSpPr>
        <p:spPr>
          <a:xfrm>
            <a:off x="502920" y="5989320"/>
            <a:ext cx="11155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4a6fa5"/>
                </a:solidFill>
                <a:latin typeface="Calibri"/>
                <a:ea typeface="Calibri"/>
              </a:rPr>
              <a:t>Economiza meses no fim.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9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 pipeline de um projeto de machine learning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502920" y="148140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a6b80"/>
                </a:solidFill>
                <a:latin typeface="Calibri"/>
                <a:ea typeface="Calibri"/>
              </a:rPr>
              <a:t>Um modelo de machine learning é um produto — e produtos se constroem em etapas. Variantes: CRISP-DM, CRISP-ML(Q), ciclo MLOps.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411480" y="2148840"/>
            <a:ext cx="2175840" cy="3200040"/>
          </a:xfrm>
          <a:prstGeom prst="roundRect">
            <a:avLst>
              <a:gd name="adj" fmla="val 3361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4"/>
          <p:cNvSpPr/>
          <p:nvPr/>
        </p:nvSpPr>
        <p:spPr>
          <a:xfrm>
            <a:off x="1225440" y="2377440"/>
            <a:ext cx="548280" cy="54828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2" name="Image 0" descr="preencoded.png"/>
          <p:cNvPicPr/>
          <p:nvPr/>
        </p:nvPicPr>
        <p:blipFill>
          <a:blip r:embed="rId1"/>
          <a:stretch/>
        </p:blipFill>
        <p:spPr>
          <a:xfrm>
            <a:off x="1362600" y="2514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53" name="Text 5"/>
          <p:cNvSpPr/>
          <p:nvPr/>
        </p:nvSpPr>
        <p:spPr>
          <a:xfrm>
            <a:off x="548640" y="3063240"/>
            <a:ext cx="190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1 · Dados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576000" y="3520440"/>
            <a:ext cx="1846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b2b2b"/>
                </a:solidFill>
                <a:latin typeface="Calibri"/>
                <a:ea typeface="Calibri"/>
              </a:rPr>
              <a:t>Fontes, ingestão, qualidade, transformações, rotulagem. Consome 60–80% do tempo — mais em defesa, com cadeia de custódia auditável.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2514600" y="33832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a6fa5"/>
                </a:solidFill>
                <a:latin typeface="Calibri"/>
                <a:ea typeface="Calibri"/>
              </a:rPr>
              <a:t>→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2724840" y="2148840"/>
            <a:ext cx="2175840" cy="3200040"/>
          </a:xfrm>
          <a:prstGeom prst="roundRect">
            <a:avLst>
              <a:gd name="adj" fmla="val 3361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3538800" y="2377440"/>
            <a:ext cx="548280" cy="54828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" name="Image 1" descr="preencoded.png"/>
          <p:cNvPicPr/>
          <p:nvPr/>
        </p:nvPicPr>
        <p:blipFill>
          <a:blip r:embed="rId2"/>
          <a:stretch/>
        </p:blipFill>
        <p:spPr>
          <a:xfrm>
            <a:off x="3675960" y="2514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59" name="Text 10"/>
          <p:cNvSpPr/>
          <p:nvPr/>
        </p:nvSpPr>
        <p:spPr>
          <a:xfrm>
            <a:off x="2862000" y="3063240"/>
            <a:ext cx="190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2 · Modelo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2889360" y="3520440"/>
            <a:ext cx="1846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b2b2b"/>
                </a:solidFill>
                <a:latin typeface="Calibri"/>
                <a:ea typeface="Calibri"/>
              </a:rPr>
              <a:t>Família, arquitetura, otimização, hiperparâmetros. Recebe atenção desproporcional na literatura didática.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4827960" y="33832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a6fa5"/>
                </a:solidFill>
                <a:latin typeface="Calibri"/>
                <a:ea typeface="Calibri"/>
              </a:rPr>
              <a:t>→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3"/>
          <p:cNvSpPr/>
          <p:nvPr/>
        </p:nvSpPr>
        <p:spPr>
          <a:xfrm>
            <a:off x="5038200" y="2148840"/>
            <a:ext cx="2175840" cy="3200040"/>
          </a:xfrm>
          <a:prstGeom prst="roundRect">
            <a:avLst>
              <a:gd name="adj" fmla="val 3361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14"/>
          <p:cNvSpPr/>
          <p:nvPr/>
        </p:nvSpPr>
        <p:spPr>
          <a:xfrm>
            <a:off x="5852160" y="2377440"/>
            <a:ext cx="548280" cy="54828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4" name="Image 2" descr="preencoded.png"/>
          <p:cNvPicPr/>
          <p:nvPr/>
        </p:nvPicPr>
        <p:blipFill>
          <a:blip r:embed="rId3"/>
          <a:stretch/>
        </p:blipFill>
        <p:spPr>
          <a:xfrm>
            <a:off x="5989320" y="2514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65" name="Text 15"/>
          <p:cNvSpPr/>
          <p:nvPr/>
        </p:nvSpPr>
        <p:spPr>
          <a:xfrm>
            <a:off x="5175360" y="3063240"/>
            <a:ext cx="190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3 · Avaliação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6"/>
          <p:cNvSpPr/>
          <p:nvPr/>
        </p:nvSpPr>
        <p:spPr>
          <a:xfrm>
            <a:off x="5203080" y="3520440"/>
            <a:ext cx="1846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b2b2b"/>
                </a:solidFill>
                <a:latin typeface="Calibri"/>
                <a:ea typeface="Calibri"/>
              </a:rPr>
              <a:t>Métricas adequadas ao problema, validação que respeita a estrutura dos dados, baseline honesta, análise de erros por subgrupo.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7"/>
          <p:cNvSpPr/>
          <p:nvPr/>
        </p:nvSpPr>
        <p:spPr>
          <a:xfrm>
            <a:off x="7141320" y="33832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a6fa5"/>
                </a:solidFill>
                <a:latin typeface="Calibri"/>
                <a:ea typeface="Calibri"/>
              </a:rPr>
              <a:t>→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8"/>
          <p:cNvSpPr/>
          <p:nvPr/>
        </p:nvSpPr>
        <p:spPr>
          <a:xfrm>
            <a:off x="7351920" y="2148840"/>
            <a:ext cx="2175840" cy="3200040"/>
          </a:xfrm>
          <a:prstGeom prst="roundRect">
            <a:avLst>
              <a:gd name="adj" fmla="val 3361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9"/>
          <p:cNvSpPr/>
          <p:nvPr/>
        </p:nvSpPr>
        <p:spPr>
          <a:xfrm>
            <a:off x="8165520" y="2377440"/>
            <a:ext cx="548280" cy="54828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0" name="Image 3" descr="preencoded.png"/>
          <p:cNvPicPr/>
          <p:nvPr/>
        </p:nvPicPr>
        <p:blipFill>
          <a:blip r:embed="rId4"/>
          <a:stretch/>
        </p:blipFill>
        <p:spPr>
          <a:xfrm>
            <a:off x="8302680" y="2514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71" name="Text 20"/>
          <p:cNvSpPr/>
          <p:nvPr/>
        </p:nvSpPr>
        <p:spPr>
          <a:xfrm>
            <a:off x="7489080" y="3063240"/>
            <a:ext cx="190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4 · Implantação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1"/>
          <p:cNvSpPr/>
          <p:nvPr/>
        </p:nvSpPr>
        <p:spPr>
          <a:xfrm>
            <a:off x="7516440" y="3520440"/>
            <a:ext cx="1846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b2b2b"/>
                </a:solidFill>
                <a:latin typeface="Calibri"/>
                <a:ea typeface="Calibri"/>
              </a:rPr>
              <a:t>Empacotamento reproduzível, interfaces, latência e throughput, telemetria. Em embarcados: energia, memória, latência (Cap. 9).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2"/>
          <p:cNvSpPr/>
          <p:nvPr/>
        </p:nvSpPr>
        <p:spPr>
          <a:xfrm>
            <a:off x="9455040" y="33832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4a6fa5"/>
                </a:solidFill>
                <a:latin typeface="Calibri"/>
                <a:ea typeface="Calibri"/>
              </a:rPr>
              <a:t>→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3"/>
          <p:cNvSpPr/>
          <p:nvPr/>
        </p:nvSpPr>
        <p:spPr>
          <a:xfrm>
            <a:off x="9665280" y="2148840"/>
            <a:ext cx="2175840" cy="3200040"/>
          </a:xfrm>
          <a:prstGeom prst="roundRect">
            <a:avLst>
              <a:gd name="adj" fmla="val 3361"/>
            </a:avLst>
          </a:prstGeom>
          <a:solidFill>
            <a:srgbClr val="edf1f7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4"/>
          <p:cNvSpPr/>
          <p:nvPr/>
        </p:nvSpPr>
        <p:spPr>
          <a:xfrm>
            <a:off x="10478880" y="2377440"/>
            <a:ext cx="548280" cy="548280"/>
          </a:xfrm>
          <a:prstGeom prst="ellipse">
            <a:avLst/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6" name="Image 4" descr="preencoded.png"/>
          <p:cNvPicPr/>
          <p:nvPr/>
        </p:nvPicPr>
        <p:blipFill>
          <a:blip r:embed="rId5"/>
          <a:stretch/>
        </p:blipFill>
        <p:spPr>
          <a:xfrm>
            <a:off x="10616040" y="2514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77" name="Text 25"/>
          <p:cNvSpPr/>
          <p:nvPr/>
        </p:nvSpPr>
        <p:spPr>
          <a:xfrm>
            <a:off x="9802440" y="3063240"/>
            <a:ext cx="1901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5 · Operação</a:t>
            </a:r>
            <a:endParaRPr b="0" lang="pt-B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6"/>
          <p:cNvSpPr/>
          <p:nvPr/>
        </p:nvSpPr>
        <p:spPr>
          <a:xfrm>
            <a:off x="9829800" y="3520440"/>
            <a:ext cx="18468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b2b2b"/>
                </a:solidFill>
                <a:latin typeface="Calibri"/>
                <a:ea typeface="Calibri"/>
              </a:rPr>
              <a:t>Drift, ataques deliberados, requisitos que evoluem. Re-treinar, re-validar, re-implantar, documentar — o campo do MLOps (Cap. 10).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7"/>
          <p:cNvSpPr/>
          <p:nvPr/>
        </p:nvSpPr>
        <p:spPr>
          <a:xfrm>
            <a:off x="502920" y="5532120"/>
            <a:ext cx="11201040" cy="712800"/>
          </a:xfrm>
          <a:prstGeom prst="roundRect">
            <a:avLst>
              <a:gd name="adj" fmla="val 7692"/>
            </a:avLst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8"/>
          <p:cNvSpPr/>
          <p:nvPr/>
        </p:nvSpPr>
        <p:spPr>
          <a:xfrm>
            <a:off x="777240" y="5532120"/>
            <a:ext cx="106981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Em sistemas críticos de defesa, a última etapa é a mais difícil: nenhum modelo é entregue como prova de conceito.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29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30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10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§ 1.4.3 — ARMADILHA COMUM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Fuga de informação (data leakage)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2"/>
          <p:cNvSpPr/>
          <p:nvPr/>
        </p:nvSpPr>
        <p:spPr>
          <a:xfrm>
            <a:off x="502920" y="1600200"/>
            <a:ext cx="11201040" cy="1416960"/>
          </a:xfrm>
          <a:prstGeom prst="roundRect">
            <a:avLst>
              <a:gd name="adj" fmla="val 5161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Image 0" descr="preencoded.png"/>
          <p:cNvPicPr/>
          <p:nvPr/>
        </p:nvPicPr>
        <p:blipFill>
          <a:blip r:embed="rId1"/>
          <a:stretch/>
        </p:blipFill>
        <p:spPr>
          <a:xfrm>
            <a:off x="822960" y="182880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287" name="Text 3"/>
          <p:cNvSpPr/>
          <p:nvPr/>
        </p:nvSpPr>
        <p:spPr>
          <a:xfrm>
            <a:off x="1371600" y="178308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2b2b2b"/>
                </a:solidFill>
                <a:latin typeface="Calibri"/>
                <a:ea typeface="Calibri"/>
              </a:rPr>
              <a:t>Algum sinal sobre a resposta vaza, durante a preparação dos dados, para o conjunto de treinamento. O modelo aprende a explorar esse sinal, atinge métricas excelentes na validação — e falha em produção, onde o sinal vazado não existe.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502920" y="333756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731520" y="352044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Séries temporais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731520" y="388620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Usar informação futura para prever o passado.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7"/>
          <p:cNvSpPr/>
          <p:nvPr/>
        </p:nvSpPr>
        <p:spPr>
          <a:xfrm>
            <a:off x="4325040" y="333756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8"/>
          <p:cNvSpPr/>
          <p:nvPr/>
        </p:nvSpPr>
        <p:spPr>
          <a:xfrm>
            <a:off x="4553640" y="352044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Dados clínicos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9"/>
          <p:cNvSpPr/>
          <p:nvPr/>
        </p:nvSpPr>
        <p:spPr>
          <a:xfrm>
            <a:off x="4553640" y="388620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Incluir feature que só se conhece após o desfecho a prever.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0"/>
          <p:cNvSpPr/>
          <p:nvPr/>
        </p:nvSpPr>
        <p:spPr>
          <a:xfrm>
            <a:off x="8147160" y="3337560"/>
            <a:ext cx="3611520" cy="141696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8375760" y="352044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Projetos de defesa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2"/>
          <p:cNvSpPr/>
          <p:nvPr/>
        </p:nvSpPr>
        <p:spPr>
          <a:xfrm>
            <a:off x="8375760" y="388620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b2b2b"/>
                </a:solidFill>
                <a:latin typeface="Calibri"/>
                <a:ea typeface="Calibri"/>
              </a:rPr>
              <a:t>Cruzamento de bases produzidas por sistemas distintos.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502920" y="5074920"/>
            <a:ext cx="11155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2b2b2b"/>
                </a:solidFill>
                <a:latin typeface="Calibri"/>
                <a:ea typeface="Calibri"/>
              </a:rPr>
              <a:t>Antes de comemorar uma métrica alta, vale a pergunta: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“</a:t>
            </a:r>
            <a:r>
              <a:rPr b="1" i="1" lang="en-US" sz="2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Como, exatamente, este modelo aprendeu a acertar tanto?”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11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LISTAGEM 1.1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 esqueleto mínimo do pipeline, em código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502920" y="1554480"/>
            <a:ext cx="7040520" cy="4708800"/>
          </a:xfrm>
          <a:prstGeom prst="roundRect">
            <a:avLst>
              <a:gd name="adj" fmla="val 1165"/>
            </a:avLst>
          </a:prstGeom>
          <a:solidFill>
            <a:srgbClr val="f4f4f4"/>
          </a:solidFill>
          <a:ln w="9525">
            <a:solidFill>
              <a:srgbClr val="dada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731520" y="1737360"/>
            <a:ext cx="667476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from sklearn.datasets import make_classification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from sklearn.model_selection import train_test_split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from sklearn.preprocessing import StandardScaler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from sklearn.linear_model import LogisticRegression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from sklearn.metrics import classification_report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# 1. Dados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X, y = make_classification(n_samples=1000, n_features=8, random_state=0)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X_tr, X_te, y_tr, y_te = train_test_split(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    </a:t>
            </a: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X, y, test_size=0.25, random_state=0, stratify=y)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# 2. Modelo (com transformacao acoplada)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escalador = StandardScaler()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X_tr_n = escalador.fit_transform(X_tr)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X_te_n = escalador.transform(X_te)  # mesma transformacao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modelo = LogisticRegression(max_iter=1000, random_state=0)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modelo.fit(X_tr_n, y_tr)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# 3. Avaliacao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print(classification_report(y_te, modelo.predict(X_te_n)))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# 4. Implantacao (esboco): joblib.dump(...)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f1f1f"/>
                </a:solidFill>
                <a:latin typeface="Courier New"/>
                <a:ea typeface="Courier New"/>
              </a:rPr>
              <a:t># 5. Operacao: monitorar entradas, retreinar, re-validar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7863840" y="16916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O que observar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7863840" y="2148840"/>
            <a:ext cx="37944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As cinco etapas estão nomeadas, com nomes de variáveis — voltarão com nuance crescente em todos os capítulos.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O escalador é ajustado só no treino e aplicado ao teste: a mesma transformação, sem vazar informação.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2b2b2b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Saída esperada (random_state=0): F1 na faixa de 85% a 90% por classe.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b3a5f"/>
              </a:buClr>
              <a:buFont typeface="Symbol" charset="2"/>
              <a:buChar char=""/>
            </a:pPr>
            <a:r>
              <a:rPr b="1" lang="en-US" sz="1250" spc="-1" strike="noStrike">
                <a:solidFill>
                  <a:srgbClr val="1b3a5f"/>
                </a:solidFill>
                <a:latin typeface="Calibri"/>
                <a:ea typeface="Calibri"/>
              </a:rPr>
              <a:t>Mais importante que o número é a estrutura.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6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7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12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SÍNTESE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Resumo do capítulo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502920" y="1600200"/>
            <a:ext cx="11201040" cy="767880"/>
          </a:xfrm>
          <a:prstGeom prst="roundRect">
            <a:avLst>
              <a:gd name="adj" fmla="val 7143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3"/>
          <p:cNvSpPr/>
          <p:nvPr/>
        </p:nvSpPr>
        <p:spPr>
          <a:xfrm>
            <a:off x="777240" y="1600200"/>
            <a:ext cx="35658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Três tradições, não uma teoria única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4526280" y="1600200"/>
            <a:ext cx="694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Simbólica, conexionista e estatística. Sistemas reais combinam as três em arquiteturas híbridas.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502920" y="2496240"/>
            <a:ext cx="11201040" cy="76788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6"/>
          <p:cNvSpPr/>
          <p:nvPr/>
        </p:nvSpPr>
        <p:spPr>
          <a:xfrm>
            <a:off x="777240" y="2496240"/>
            <a:ext cx="35658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Entusiasmos e invernos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4526280" y="2496240"/>
            <a:ext cx="694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História produzida pelo descompasso entre promessas e expectativas. Inflexão: deep learning (2012–), Project Maven (2017).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502920" y="3392280"/>
            <a:ext cx="11201040" cy="767880"/>
          </a:xfrm>
          <a:prstGeom prst="roundRect">
            <a:avLst>
              <a:gd name="adj" fmla="val 7143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777240" y="3392280"/>
            <a:ext cx="35658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Três regimes de aprendizado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0"/>
          <p:cNvSpPr/>
          <p:nvPr/>
        </p:nvSpPr>
        <p:spPr>
          <a:xfrm>
            <a:off x="4526280" y="3392280"/>
            <a:ext cx="694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Supervisionado, não supervisionado e por reforço. A escolha do regime é a primeira decisão estratégica.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1"/>
          <p:cNvSpPr/>
          <p:nvPr/>
        </p:nvSpPr>
        <p:spPr>
          <a:xfrm>
            <a:off x="502920" y="4288680"/>
            <a:ext cx="11201040" cy="76788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12"/>
          <p:cNvSpPr/>
          <p:nvPr/>
        </p:nvSpPr>
        <p:spPr>
          <a:xfrm>
            <a:off x="777240" y="4288680"/>
            <a:ext cx="35658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Pipeline de cinco etapas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4526280" y="4288680"/>
            <a:ext cx="694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Dados, modelo, avaliação, implantação, operação. Em defesa, o problema central é a passagem da prova de conceito ao sistema implantado.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4"/>
          <p:cNvSpPr/>
          <p:nvPr/>
        </p:nvSpPr>
        <p:spPr>
          <a:xfrm>
            <a:off x="502920" y="5184720"/>
            <a:ext cx="11201040" cy="767880"/>
          </a:xfrm>
          <a:prstGeom prst="roundRect">
            <a:avLst>
              <a:gd name="adj" fmla="val 7143"/>
            </a:avLst>
          </a:prstGeom>
          <a:solidFill>
            <a:srgbClr val="edf1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777240" y="5184720"/>
            <a:ext cx="356580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Autonomia tecnológica</a:t>
            </a:r>
            <a:endParaRPr b="0" lang="pt-BR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6"/>
          <p:cNvSpPr/>
          <p:nvPr/>
        </p:nvSpPr>
        <p:spPr>
          <a:xfrm>
            <a:off x="4526280" y="5184720"/>
            <a:ext cx="69490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2b2b2b"/>
                </a:solidFill>
                <a:latin typeface="Calibri"/>
                <a:ea typeface="Calibri"/>
              </a:rPr>
              <a:t>Central à END: controlar a cadeia dos dados de coleta ao modelo implantado. Modelos estrangeiros importam, junto, seus vieses.</a:t>
            </a:r>
            <a:endParaRPr b="0" lang="pt-B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18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13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502920" y="2926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299" strike="noStrike">
                <a:solidFill>
                  <a:srgbClr val="4a6fa5"/>
                </a:solidFill>
                <a:latin typeface="Calibri"/>
                <a:ea typeface="Calibri"/>
              </a:rPr>
              <a:t>PARA NÃO ERRAR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502920" y="548640"/>
            <a:ext cx="11155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Armadilhas comuns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"/>
          <p:cNvSpPr/>
          <p:nvPr/>
        </p:nvSpPr>
        <p:spPr>
          <a:xfrm>
            <a:off x="502920" y="160020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Image 0" descr="preencoded.png"/>
          <p:cNvPicPr/>
          <p:nvPr/>
        </p:nvPicPr>
        <p:blipFill>
          <a:blip r:embed="rId1"/>
          <a:stretch/>
        </p:blipFill>
        <p:spPr>
          <a:xfrm>
            <a:off x="731520" y="18014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31" name="Text 3"/>
          <p:cNvSpPr/>
          <p:nvPr/>
        </p:nvSpPr>
        <p:spPr>
          <a:xfrm>
            <a:off x="1124640" y="173736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Confundir IA com deep learning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4"/>
          <p:cNvSpPr/>
          <p:nvPr/>
        </p:nvSpPr>
        <p:spPr>
          <a:xfrm>
            <a:off x="1124640" y="213048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A IA é mais ampla. Em muitas aplicações operacionais, modelos clássicos são mais auditáveis, robustos e adequados.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5"/>
          <p:cNvSpPr/>
          <p:nvPr/>
        </p:nvSpPr>
        <p:spPr>
          <a:xfrm>
            <a:off x="502920" y="310896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4" name="Image 1" descr="preencoded.png"/>
          <p:cNvPicPr/>
          <p:nvPr/>
        </p:nvPicPr>
        <p:blipFill>
          <a:blip r:embed="rId2"/>
          <a:stretch/>
        </p:blipFill>
        <p:spPr>
          <a:xfrm>
            <a:off x="731520" y="3310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35" name="Text 6"/>
          <p:cNvSpPr/>
          <p:nvPr/>
        </p:nvSpPr>
        <p:spPr>
          <a:xfrm>
            <a:off x="1124640" y="324612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Subestimar a fase de dados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1124640" y="363924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O gargalo real está na qualidade, rotulagem e curadoria. Investir só em modelagem é o padrão de quem está começando.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502920" y="461772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Image 2" descr="preencoded.png"/>
          <p:cNvPicPr/>
          <p:nvPr/>
        </p:nvPicPr>
        <p:blipFill>
          <a:blip r:embed="rId3"/>
          <a:stretch/>
        </p:blipFill>
        <p:spPr>
          <a:xfrm>
            <a:off x="731520" y="48189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39" name="Text 9"/>
          <p:cNvSpPr/>
          <p:nvPr/>
        </p:nvSpPr>
        <p:spPr>
          <a:xfrm>
            <a:off x="1124640" y="475488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Avaliação com uma única métrica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0"/>
          <p:cNvSpPr/>
          <p:nvPr/>
        </p:nvSpPr>
        <p:spPr>
          <a:xfrm>
            <a:off x="1124640" y="514800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Acurácia agregada em dados desbalanceados engana. É preciso métrica por tipo de erro e análise por subgrupo.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1"/>
          <p:cNvSpPr/>
          <p:nvPr/>
        </p:nvSpPr>
        <p:spPr>
          <a:xfrm>
            <a:off x="6263640" y="160020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Image 3" descr="preencoded.png"/>
          <p:cNvPicPr/>
          <p:nvPr/>
        </p:nvPicPr>
        <p:blipFill>
          <a:blip r:embed="rId4"/>
          <a:stretch/>
        </p:blipFill>
        <p:spPr>
          <a:xfrm>
            <a:off x="6492240" y="18014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43" name="Text 12"/>
          <p:cNvSpPr/>
          <p:nvPr/>
        </p:nvSpPr>
        <p:spPr>
          <a:xfrm>
            <a:off x="6885360" y="173736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Confundir notebook com sistema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3"/>
          <p:cNvSpPr/>
          <p:nvPr/>
        </p:nvSpPr>
        <p:spPr>
          <a:xfrm>
            <a:off x="6885360" y="213048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Versões fixadas, latência, telemetria, drift, retreinamento — trabalho que só aparece na transição para operação.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4"/>
          <p:cNvSpPr/>
          <p:nvPr/>
        </p:nvSpPr>
        <p:spPr>
          <a:xfrm>
            <a:off x="6263640" y="310896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6" name="Image 4" descr="preencoded.png"/>
          <p:cNvPicPr/>
          <p:nvPr/>
        </p:nvPicPr>
        <p:blipFill>
          <a:blip r:embed="rId5"/>
          <a:stretch/>
        </p:blipFill>
        <p:spPr>
          <a:xfrm>
            <a:off x="6492240" y="33102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47" name="Text 15"/>
          <p:cNvSpPr/>
          <p:nvPr/>
        </p:nvSpPr>
        <p:spPr>
          <a:xfrm>
            <a:off x="6885360" y="3246120"/>
            <a:ext cx="4663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b3a5f"/>
                </a:solidFill>
                <a:latin typeface="Century Schoolbook"/>
                <a:ea typeface="Century Schoolbook"/>
              </a:rPr>
              <a:t>Importar viés geográfico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6885360" y="3639240"/>
            <a:ext cx="4617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b2b2b"/>
                </a:solidFill>
                <a:latin typeface="Calibri"/>
                <a:ea typeface="Calibri"/>
              </a:rPr>
              <a:t>Modelos pré-treinados em datasets estrangeiros, sem avaliação em dados nacionais, trazem vieses sistemáticos — sobretudo em percepção.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6263640" y="4617720"/>
            <a:ext cx="5440320" cy="1371240"/>
          </a:xfrm>
          <a:prstGeom prst="roundRect">
            <a:avLst>
              <a:gd name="adj" fmla="val 5333"/>
            </a:avLst>
          </a:prstGeom>
          <a:solidFill>
            <a:srgbClr val="1b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8"/>
          <p:cNvSpPr/>
          <p:nvPr/>
        </p:nvSpPr>
        <p:spPr>
          <a:xfrm>
            <a:off x="6537960" y="475488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4ebf4"/>
                </a:solidFill>
                <a:latin typeface="Calibri"/>
                <a:ea typeface="Calibri"/>
              </a:rPr>
              <a:t>Exercícios do capítulo:  </a:t>
            </a:r>
            <a:r>
              <a:rPr b="0" lang="en-US" sz="1200" spc="-1" strike="noStrike">
                <a:solidFill>
                  <a:srgbClr val="e4ebf4"/>
                </a:solidFill>
                <a:latin typeface="Calibri"/>
                <a:ea typeface="Calibri"/>
              </a:rPr>
              <a:t>9 exercícios graduados — Essencial (1.1–1.3), Tático (1.4–1.6) e Estratégico (1.7–1.9) — com soluções guiadas no repositório.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19"/>
          <p:cNvSpPr/>
          <p:nvPr/>
        </p:nvSpPr>
        <p:spPr>
          <a:xfrm>
            <a:off x="502920" y="64738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Inteligência Artificial e Machine Learning Avançado para Defesa — Capítulo 1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20"/>
          <p:cNvSpPr/>
          <p:nvPr/>
        </p:nvSpPr>
        <p:spPr>
          <a:xfrm>
            <a:off x="1127736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a6b80"/>
                </a:solidFill>
                <a:latin typeface="Calibri"/>
                <a:ea typeface="Calibri"/>
              </a:rPr>
              <a:t>14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50292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"/>
          <p:cNvSpPr/>
          <p:nvPr/>
        </p:nvSpPr>
        <p:spPr>
          <a:xfrm>
            <a:off x="100584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3"/>
          <p:cNvSpPr/>
          <p:nvPr/>
        </p:nvSpPr>
        <p:spPr>
          <a:xfrm>
            <a:off x="150876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Shape 4"/>
          <p:cNvSpPr/>
          <p:nvPr/>
        </p:nvSpPr>
        <p:spPr>
          <a:xfrm>
            <a:off x="201168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5"/>
          <p:cNvSpPr/>
          <p:nvPr/>
        </p:nvSpPr>
        <p:spPr>
          <a:xfrm>
            <a:off x="251460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6"/>
          <p:cNvSpPr/>
          <p:nvPr/>
        </p:nvSpPr>
        <p:spPr>
          <a:xfrm>
            <a:off x="301752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7"/>
          <p:cNvSpPr/>
          <p:nvPr/>
        </p:nvSpPr>
        <p:spPr>
          <a:xfrm>
            <a:off x="352044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8"/>
          <p:cNvSpPr/>
          <p:nvPr/>
        </p:nvSpPr>
        <p:spPr>
          <a:xfrm>
            <a:off x="402336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9"/>
          <p:cNvSpPr/>
          <p:nvPr/>
        </p:nvSpPr>
        <p:spPr>
          <a:xfrm>
            <a:off x="452628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Shape 10"/>
          <p:cNvSpPr/>
          <p:nvPr/>
        </p:nvSpPr>
        <p:spPr>
          <a:xfrm>
            <a:off x="502920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11"/>
          <p:cNvSpPr/>
          <p:nvPr/>
        </p:nvSpPr>
        <p:spPr>
          <a:xfrm>
            <a:off x="553212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2"/>
          <p:cNvSpPr/>
          <p:nvPr/>
        </p:nvSpPr>
        <p:spPr>
          <a:xfrm>
            <a:off x="603504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13"/>
          <p:cNvSpPr/>
          <p:nvPr/>
        </p:nvSpPr>
        <p:spPr>
          <a:xfrm>
            <a:off x="653796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4"/>
          <p:cNvSpPr/>
          <p:nvPr/>
        </p:nvSpPr>
        <p:spPr>
          <a:xfrm>
            <a:off x="704088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15"/>
          <p:cNvSpPr/>
          <p:nvPr/>
        </p:nvSpPr>
        <p:spPr>
          <a:xfrm>
            <a:off x="754380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Shape 16"/>
          <p:cNvSpPr/>
          <p:nvPr/>
        </p:nvSpPr>
        <p:spPr>
          <a:xfrm>
            <a:off x="804672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17"/>
          <p:cNvSpPr/>
          <p:nvPr/>
        </p:nvSpPr>
        <p:spPr>
          <a:xfrm>
            <a:off x="854964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Shape 18"/>
          <p:cNvSpPr/>
          <p:nvPr/>
        </p:nvSpPr>
        <p:spPr>
          <a:xfrm>
            <a:off x="905256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9"/>
          <p:cNvSpPr/>
          <p:nvPr/>
        </p:nvSpPr>
        <p:spPr>
          <a:xfrm>
            <a:off x="955548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Shape 20"/>
          <p:cNvSpPr/>
          <p:nvPr/>
        </p:nvSpPr>
        <p:spPr>
          <a:xfrm>
            <a:off x="1005840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21"/>
          <p:cNvSpPr/>
          <p:nvPr/>
        </p:nvSpPr>
        <p:spPr>
          <a:xfrm>
            <a:off x="1056132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22"/>
          <p:cNvSpPr/>
          <p:nvPr/>
        </p:nvSpPr>
        <p:spPr>
          <a:xfrm>
            <a:off x="1106424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Shape 23"/>
          <p:cNvSpPr/>
          <p:nvPr/>
        </p:nvSpPr>
        <p:spPr>
          <a:xfrm>
            <a:off x="1156716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Shape 24"/>
          <p:cNvSpPr/>
          <p:nvPr/>
        </p:nvSpPr>
        <p:spPr>
          <a:xfrm>
            <a:off x="12070080" y="0"/>
            <a:ext cx="360" cy="685800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25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Shape 26"/>
          <p:cNvSpPr/>
          <p:nvPr/>
        </p:nvSpPr>
        <p:spPr>
          <a:xfrm>
            <a:off x="0" y="50292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Shape 27"/>
          <p:cNvSpPr/>
          <p:nvPr/>
        </p:nvSpPr>
        <p:spPr>
          <a:xfrm>
            <a:off x="0" y="100584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Shape 28"/>
          <p:cNvSpPr/>
          <p:nvPr/>
        </p:nvSpPr>
        <p:spPr>
          <a:xfrm>
            <a:off x="0" y="150876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29"/>
          <p:cNvSpPr/>
          <p:nvPr/>
        </p:nvSpPr>
        <p:spPr>
          <a:xfrm>
            <a:off x="0" y="201168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Shape 30"/>
          <p:cNvSpPr/>
          <p:nvPr/>
        </p:nvSpPr>
        <p:spPr>
          <a:xfrm>
            <a:off x="0" y="251460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31"/>
          <p:cNvSpPr/>
          <p:nvPr/>
        </p:nvSpPr>
        <p:spPr>
          <a:xfrm>
            <a:off x="0" y="301752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32"/>
          <p:cNvSpPr/>
          <p:nvPr/>
        </p:nvSpPr>
        <p:spPr>
          <a:xfrm>
            <a:off x="0" y="352044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Shape 33"/>
          <p:cNvSpPr/>
          <p:nvPr/>
        </p:nvSpPr>
        <p:spPr>
          <a:xfrm>
            <a:off x="0" y="402336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34"/>
          <p:cNvSpPr/>
          <p:nvPr/>
        </p:nvSpPr>
        <p:spPr>
          <a:xfrm>
            <a:off x="0" y="452628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Shape 35"/>
          <p:cNvSpPr/>
          <p:nvPr/>
        </p:nvSpPr>
        <p:spPr>
          <a:xfrm>
            <a:off x="0" y="502920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Shape 36"/>
          <p:cNvSpPr/>
          <p:nvPr/>
        </p:nvSpPr>
        <p:spPr>
          <a:xfrm>
            <a:off x="0" y="553212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37"/>
          <p:cNvSpPr/>
          <p:nvPr/>
        </p:nvSpPr>
        <p:spPr>
          <a:xfrm>
            <a:off x="0" y="603504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Shape 38"/>
          <p:cNvSpPr/>
          <p:nvPr/>
        </p:nvSpPr>
        <p:spPr>
          <a:xfrm>
            <a:off x="0" y="6537960"/>
            <a:ext cx="12191400" cy="360"/>
          </a:xfrm>
          <a:prstGeom prst="line">
            <a:avLst/>
          </a:prstGeom>
          <a:ln w="6350">
            <a:solidFill>
              <a:srgbClr val="8fa8c8">
                <a:alpha val="1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39"/>
          <p:cNvSpPr/>
          <p:nvPr/>
        </p:nvSpPr>
        <p:spPr>
          <a:xfrm>
            <a:off x="10469880" y="594360"/>
            <a:ext cx="1005480" cy="1005480"/>
          </a:xfrm>
          <a:prstGeom prst="ellipse">
            <a:avLst/>
          </a:prstGeom>
          <a:noFill/>
          <a:ln w="15240">
            <a:solidFill>
              <a:srgbClr val="8fa8c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40"/>
          <p:cNvSpPr/>
          <p:nvPr/>
        </p:nvSpPr>
        <p:spPr>
          <a:xfrm>
            <a:off x="10104120" y="228600"/>
            <a:ext cx="1737000" cy="1737000"/>
          </a:xfrm>
          <a:prstGeom prst="ellipse">
            <a:avLst/>
          </a:prstGeom>
          <a:noFill/>
          <a:ln w="15240">
            <a:solidFill>
              <a:srgbClr val="8fa8c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41"/>
          <p:cNvSpPr/>
          <p:nvPr/>
        </p:nvSpPr>
        <p:spPr>
          <a:xfrm>
            <a:off x="9738360" y="-137160"/>
            <a:ext cx="2468520" cy="2468520"/>
          </a:xfrm>
          <a:prstGeom prst="ellipse">
            <a:avLst/>
          </a:prstGeom>
          <a:noFill/>
          <a:ln w="15240">
            <a:solidFill>
              <a:srgbClr val="8fa8c8">
                <a:alpha val="3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42"/>
          <p:cNvSpPr/>
          <p:nvPr/>
        </p:nvSpPr>
        <p:spPr>
          <a:xfrm>
            <a:off x="822960" y="4572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afc3dc"/>
                </a:solidFill>
                <a:latin typeface="Calibri"/>
                <a:ea typeface="Calibri"/>
              </a:rPr>
              <a:t>§ 1.5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43"/>
          <p:cNvSpPr/>
          <p:nvPr/>
        </p:nvSpPr>
        <p:spPr>
          <a:xfrm>
            <a:off x="822960" y="77724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O caminho à frente</a:t>
            </a:r>
            <a:endParaRPr b="0" lang="pt-B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Shape 44"/>
          <p:cNvSpPr/>
          <p:nvPr/>
        </p:nvSpPr>
        <p:spPr>
          <a:xfrm>
            <a:off x="822960" y="1828800"/>
            <a:ext cx="2514240" cy="3108600"/>
          </a:xfrm>
          <a:prstGeom prst="roundRect">
            <a:avLst>
              <a:gd name="adj" fmla="val 2909"/>
            </a:avLst>
          </a:prstGeom>
          <a:solidFill>
            <a:srgbClr val="16304f"/>
          </a:solidFill>
          <a:ln w="9525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45"/>
          <p:cNvSpPr/>
          <p:nvPr/>
        </p:nvSpPr>
        <p:spPr>
          <a:xfrm>
            <a:off x="1024200" y="20574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8fb0d9"/>
                </a:solidFill>
                <a:latin typeface="Calibri"/>
                <a:ea typeface="Calibri"/>
              </a:rPr>
              <a:t>MÓDULO I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46"/>
          <p:cNvSpPr/>
          <p:nvPr/>
        </p:nvSpPr>
        <p:spPr>
          <a:xfrm>
            <a:off x="1024200" y="23774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Fundamentos e Modelos Clássicos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47"/>
          <p:cNvSpPr/>
          <p:nvPr/>
        </p:nvSpPr>
        <p:spPr>
          <a:xfrm>
            <a:off x="1024200" y="3291840"/>
            <a:ext cx="2148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6e6"/>
                </a:solidFill>
                <a:latin typeface="Calibri"/>
                <a:ea typeface="Calibri"/>
              </a:rPr>
              <a:t>Caps. 2–3: modelos supervisionados clássicos e o salto para o deep learning.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48"/>
          <p:cNvSpPr/>
          <p:nvPr/>
        </p:nvSpPr>
        <p:spPr>
          <a:xfrm>
            <a:off x="1024200" y="4480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fb0d9"/>
                </a:solidFill>
                <a:latin typeface="Calibri"/>
                <a:ea typeface="Calibri"/>
              </a:rPr>
              <a:t>dá o vocabulário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49"/>
          <p:cNvSpPr/>
          <p:nvPr/>
        </p:nvSpPr>
        <p:spPr>
          <a:xfrm>
            <a:off x="3520440" y="1828800"/>
            <a:ext cx="2514240" cy="3108600"/>
          </a:xfrm>
          <a:prstGeom prst="roundRect">
            <a:avLst>
              <a:gd name="adj" fmla="val 2909"/>
            </a:avLst>
          </a:prstGeom>
          <a:solidFill>
            <a:srgbClr val="16304f"/>
          </a:solidFill>
          <a:ln w="9525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50"/>
          <p:cNvSpPr/>
          <p:nvPr/>
        </p:nvSpPr>
        <p:spPr>
          <a:xfrm>
            <a:off x="3721680" y="20574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8fb0d9"/>
                </a:solidFill>
                <a:latin typeface="Calibri"/>
                <a:ea typeface="Calibri"/>
              </a:rPr>
              <a:t>MÓDULO II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51"/>
          <p:cNvSpPr/>
          <p:nvPr/>
        </p:nvSpPr>
        <p:spPr>
          <a:xfrm>
            <a:off x="3721680" y="23774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Percepção: Visão e Linguagem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52"/>
          <p:cNvSpPr/>
          <p:nvPr/>
        </p:nvSpPr>
        <p:spPr>
          <a:xfrm>
            <a:off x="3721680" y="3291840"/>
            <a:ext cx="2148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6e6"/>
                </a:solidFill>
                <a:latin typeface="Calibri"/>
                <a:ea typeface="Calibri"/>
              </a:rPr>
              <a:t>Caps. 4–6: visão computacional (YOLO, SAR), PLN para inteligência, LLMs em OSINT.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53"/>
          <p:cNvSpPr/>
          <p:nvPr/>
        </p:nvSpPr>
        <p:spPr>
          <a:xfrm>
            <a:off x="3721680" y="4480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fb0d9"/>
                </a:solidFill>
                <a:latin typeface="Calibri"/>
                <a:ea typeface="Calibri"/>
              </a:rPr>
              <a:t>constrói os blocos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54"/>
          <p:cNvSpPr/>
          <p:nvPr/>
        </p:nvSpPr>
        <p:spPr>
          <a:xfrm>
            <a:off x="6217920" y="1828800"/>
            <a:ext cx="2514240" cy="3108600"/>
          </a:xfrm>
          <a:prstGeom prst="roundRect">
            <a:avLst>
              <a:gd name="adj" fmla="val 2909"/>
            </a:avLst>
          </a:prstGeom>
          <a:solidFill>
            <a:srgbClr val="16304f"/>
          </a:solidFill>
          <a:ln w="9525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55"/>
          <p:cNvSpPr/>
          <p:nvPr/>
        </p:nvSpPr>
        <p:spPr>
          <a:xfrm>
            <a:off x="6419160" y="20574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8fb0d9"/>
                </a:solidFill>
                <a:latin typeface="Calibri"/>
                <a:ea typeface="Calibri"/>
              </a:rPr>
              <a:t>MÓDULO III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56"/>
          <p:cNvSpPr/>
          <p:nvPr/>
        </p:nvSpPr>
        <p:spPr>
          <a:xfrm>
            <a:off x="6419160" y="23774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Decisão Autônoma e RL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57"/>
          <p:cNvSpPr/>
          <p:nvPr/>
        </p:nvSpPr>
        <p:spPr>
          <a:xfrm>
            <a:off x="6419160" y="3291840"/>
            <a:ext cx="2148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6e6"/>
                </a:solidFill>
                <a:latin typeface="Calibri"/>
                <a:ea typeface="Calibri"/>
              </a:rPr>
              <a:t>Caps. 7–8: aprendizado por reforço profundo e robustez adversarial em sistemas críticos.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58"/>
          <p:cNvSpPr/>
          <p:nvPr/>
        </p:nvSpPr>
        <p:spPr>
          <a:xfrm>
            <a:off x="6419160" y="4480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fb0d9"/>
                </a:solidFill>
                <a:latin typeface="Calibri"/>
                <a:ea typeface="Calibri"/>
              </a:rPr>
              <a:t>combina percepção e ação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59"/>
          <p:cNvSpPr/>
          <p:nvPr/>
        </p:nvSpPr>
        <p:spPr>
          <a:xfrm>
            <a:off x="8915400" y="1828800"/>
            <a:ext cx="2514240" cy="3108600"/>
          </a:xfrm>
          <a:prstGeom prst="roundRect">
            <a:avLst>
              <a:gd name="adj" fmla="val 2909"/>
            </a:avLst>
          </a:prstGeom>
          <a:solidFill>
            <a:srgbClr val="16304f"/>
          </a:solidFill>
          <a:ln w="9525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60"/>
          <p:cNvSpPr/>
          <p:nvPr/>
        </p:nvSpPr>
        <p:spPr>
          <a:xfrm>
            <a:off x="9116640" y="20574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8fb0d9"/>
                </a:solidFill>
                <a:latin typeface="Calibri"/>
                <a:ea typeface="Calibri"/>
              </a:rPr>
              <a:t>MÓDULO IV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61"/>
          <p:cNvSpPr/>
          <p:nvPr/>
        </p:nvSpPr>
        <p:spPr>
          <a:xfrm>
            <a:off x="9116640" y="237744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entury Schoolbook"/>
                <a:ea typeface="Century Schoolbook"/>
              </a:rPr>
              <a:t>Confiabilidade, Operação e Governança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62"/>
          <p:cNvSpPr/>
          <p:nvPr/>
        </p:nvSpPr>
        <p:spPr>
          <a:xfrm>
            <a:off x="9116640" y="3291840"/>
            <a:ext cx="21484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9d6e6"/>
                </a:solidFill>
                <a:latin typeface="Calibri"/>
                <a:ea typeface="Calibri"/>
              </a:rPr>
              <a:t>Caps. 9–10: IA embarcada, tempo real, quadro ético-regulatório e controle humano significativo.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63"/>
          <p:cNvSpPr/>
          <p:nvPr/>
        </p:nvSpPr>
        <p:spPr>
          <a:xfrm>
            <a:off x="9116640" y="4480560"/>
            <a:ext cx="2148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fb0d9"/>
                </a:solidFill>
                <a:latin typeface="Calibri"/>
                <a:ea typeface="Calibri"/>
              </a:rPr>
              <a:t>fecha o ciclo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64"/>
          <p:cNvSpPr/>
          <p:nvPr/>
        </p:nvSpPr>
        <p:spPr>
          <a:xfrm>
            <a:off x="822960" y="53492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9d6e6"/>
                </a:solidFill>
                <a:latin typeface="Century Schoolbook"/>
                <a:ea typeface="Century Schoolbook"/>
              </a:rPr>
              <a:t>Em defesa, nenhum modelo se discute, no fim, sem o contexto normativo em que opera.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65"/>
          <p:cNvSpPr/>
          <p:nvPr/>
        </p:nvSpPr>
        <p:spPr>
          <a:xfrm>
            <a:off x="822960" y="59436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Próximo encontro — Capítulo 2: Modelos Clássicos de Machine Learning para Defesa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2026-07-05T16:40:04Z</dcterms:created>
  <dc:creator>Cristiano Alves — Quantum Strategic AI</dc:creator>
  <dc:description/>
  <dc:language>pt-BR</dc:language>
  <cp:lastModifiedBy>Cristiano Alves — Quantum Strategic AI</cp:lastModifiedBy>
  <dcterms:modified xsi:type="dcterms:W3CDTF">2026-07-05T16:40:04Z</dcterms:modified>
  <cp:revision>1</cp:revision>
  <dc:subject>PptxGenJS Presentation</dc:subject>
  <dc:title>Capítulo 1 — Fundamentos de IA e Machine Learning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