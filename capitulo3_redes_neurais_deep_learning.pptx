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Redes Neurais Artificiais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e Deep Learning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1148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 — Fundamentos e Modelos Clássicos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Explicar.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perceptron, o problema do XOR e como o perceptron multicamadas o supera pela composição de camadas com ativação não linear.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Descrever.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gradiente descendente e a retropropagação, compreendendo o papel das funções de ativação e o gradiente evanescente.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Distinguir.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arquiteturas profundas — CNN, RNN e LSTM — e o tipo de dado a que cada uma se adequa.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Implementar.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 treinar redes em TensorFlow/Keras e PyTorch, reconhecendo os idiomas declarativo e imperativo.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regularização (dropout, weight decay, batch normalization), otimizadores modernos e boas práticas contra o sobreajuste.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Com o Capítulo 2, a disciplina da comparação; agora, o motor que redefiniu a percepção — e fechamos o Módulo 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Do neurônio artificial ao modelo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Do perceptron ao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Da unidade elementar ao aproximador universal: o XOR expõe o limite, a camada oculta o supera.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Retropropagação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Como uma rede aprende: gradiente descendente, regra da cadeia e o papel das ativações.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Arquiteturas profundas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CNN para a estrutura espacial das imagens; RNN e LSTM para a estrutura temporal das sequências.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Regularização e otimização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Dropout, weight decay, batch norm, parada antecipada — o que separa notebook de operação.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Aplicação integrada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Uma CNN de triagem de imagens de sensor, confrontada com a baseline clássica do Capítulo 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Quando uma rede profunda se justifica em um sistema crítico de defesa?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Profundidade não é sofisticação gratuita: o aumento de capacidade torna a disciplina do Capítulo 2 mais necessária.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Do perceptron ao perceptron multicamadas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perceptron (1958)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Combinação linear + degrau: um hiperplano divide o espaço em dois semiespaços.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310896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 local: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cada erro, w recebe uma correção proporcional à entrada.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Convergência: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garantida em passos finitos — se os dados forem linearmente separáveis.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Herança: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o ancestral da regressão logística do Capítulo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limite: o XOR (1969)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Minsky e Papert: nenhuma reta separa o ou-exclusivo — o problema não é linearmente separável.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749039"/>
            <a:ext cx="310896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Consequência: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resultado alimentou o primeiro “inverno da IA” (Capítulo 1).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 saída: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empilhar unidades em camadas, intercalando uma não linearidade.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1B3A5F"/>
                </a:solidFill>
                <a:latin typeface="Century Schoolbook"/>
              </a:rPr>
              <a:t>O MLP e a aproximação universal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camada oculta aprende representações latentes em que o problema se torna separável.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749039"/>
            <a:ext cx="310896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Teorema: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uma camada oculta suficientemente larga aproxima qualquer função contínua.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Na prática: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profundidade é mais econômica que largura — daí deep learning.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Em defesa, o MLP é a ferramenta natural para fusão de dados tabulares de múltiplos sensores em uma decisão única.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Retropropagação e o treinamento por gradiente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 perda e o gradiente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θ ← θ − η·∇L(θ): os pesos caminham na direção que mais reduz a perda.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Mini-batch SGD: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gradiente estimado em minilotes — barato, e o ruído escapa de mínimos rasos.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Taxa η: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alta demais diverge; baixa demais se arrasta — o hiperparâmetro mais crítico.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 regra da cadeia, organizada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Passo à frente calcula ativações e perda; passo para trás propaga o sinal de erro 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Autodiff: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as bibliotecas executam as fórmulas automaticamente.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 que entender: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explica os modos de falha — como o gradiente que “desaparece”.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Ativações: a ReLU venceu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Empilhar camadas lineares colapsa em um único mapa linear — a não linearidade é o poder da rede.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Sigmoide/tanh: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saturam: derivada ≤ 0,25 encolhe o erro a cada camada.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ReLU: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derivada 1 para z &gt; 0 preserva o gradiente e acelera o treino.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463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 gradiente evanescente em números.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Após 10 camadas sigmoides, no melhor caso, o sinal de erro é reduzido por um fator de 10⁻⁶ — as primeiras camadas congelam. A ReLU tornou as redes profundas treináveis.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Na saída, a ativação segue a tarefa: sigmoide para decisão binária, softmax para multiclasse.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3.2 — NOTA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Dois idiomas, a mesma retropropagação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As Listagens 3.1 e 3.2 treinam a </a:t>
            </a:r>
            <a:r>
              <a:rPr sz="1500" b="1" i="0">
                <a:solidFill>
                  <a:srgbClr val="1B3A5F"/>
                </a:solidFill>
                <a:latin typeface="Calibri"/>
              </a:rPr>
              <a:t>mesma rede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triagem de ameaças nas duas bibliotecas padrão de mercado — a obra emprega as duas.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TensorFlow / Keras — declarativo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Descreve-se a arquitetura em alto nível; o método fit cuida do laço de treino. Rápido para prototipar e implantar.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611880"/>
            <a:ext cx="4892040" cy="1783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49039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model = keras.Sequential([...])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model.compile(optimizer="adam",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loss="binary_crossentropy",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metrics=[Recall(), Precision()])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model.fit(X_tr, y_tr, epochs=30,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      class_weight=peso)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PyTorch — imperativo (define-by-run)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grafo nasce a cada execução, em Python puro. Controle fino do laço — a retropropagação fica visível em três linhas.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611880"/>
            <a:ext cx="4892040" cy="1783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for epoca in range(300):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otimizador.zero_grad()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logits = rede(Xt)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perda = criterio(logits, yt)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perda.backward()   # retroprop.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F1F1F"/>
                </a:solidFill>
                <a:latin typeface="Courier New"/>
              </a:rPr>
              <a:t>    otimizador.step()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que o fit do Keras esconde, o PyTorch expõe: zero_grad, backward e step são o gradiente descendente da § 3.2.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Redes convolucionais: o padrão para imagens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1B3A5F"/>
                </a:solidFill>
                <a:latin typeface="Century Schoolbook"/>
              </a:rPr>
              <a:t>Campos receptivos locais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filtro pequeno desliza sobre a imagem e produz um mapa de ativação.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Adequação: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feições de imagem são locais: bordas, texturas, partes.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Aprendizado: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os filtros não são desenhados à mão — são pesos treinados.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1B3A5F"/>
                </a:solidFill>
                <a:latin typeface="Century Schoolbook"/>
              </a:rPr>
              <a:t>Compartilhamento de pesos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mesmo filtro varre toda a imagem: invariância à translação.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Economia: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1ª camada: 160 parâmetros vs. 65 552 da densa equivalente.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Consequência: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o que viabiliza a IA embarcada do Módulo IV.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1B3A5F"/>
                </a:solidFill>
                <a:latin typeface="Century Schoolbook"/>
              </a:rPr>
              <a:t>Pooling e hierarquia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agregação reduz a resolução e dá robustez a pequenos deslocamentos.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Empilhando blocos: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conv + ReLU + pooling constroem feições hierárquicas.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Resultado: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bordas → texturas → partes → objetos.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463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37760"/>
            <a:ext cx="8458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CNNs são a espinha dorsal da detecção de alvos — satélite, SAR e vídeo de VANT. O Project Maven aplicou exatamente isso a vídeo de sensor para reduzir a sobrecarga dos analistas. O Capítulo 4 estende para YOLO e Faster R-CNN.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CNN embute na arquitetura a suposição de que pixels vizinhos se relacionam — e ganha desempenho e parâmetros.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Redes recorrentes e LSTM: memória para sequências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RNN: o estado oculto como memória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rede processa a sequência passo a passo, carregando um resumo do que já viu.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4937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 problema: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ao retropropagar por sequências longas, o gradiente desaparece ou explode.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Sintoma: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RNN simples “esquece” dependências distantes no tempo.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LSTM: comportas que preservam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estado de célula e três comportas — esquecer, entrar, sair — regulam o fluxo de informação.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4937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gradiente sobrevive a horizontes longos: no adding problem, a RNN estaciona; a LSTM aprende.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Em defesa: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telemetria, previsão de trajetórias (radar, AIS) e, historicamente, texto.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BOA
PRÁTICA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37760"/>
            <a:ext cx="8458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Em texto, o Transformer (Capítulo 6) hoje supera as recorrentes. A LSTM permanece forte e barata em sequências curtas e plataformas com restrição de recursos — o cenário da IA embarcada. A escolha é de engenharia, não de moda.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Correlacionar eventos distantes no tempo — um contato 50 varreduras atrás — exige preservar o gradiente.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Regularização, otimização e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O sintoma do sobreajuste é inequívoco: a perda de treino cai enquanto a de validação sobe — a rede está decorando ruído. O repertório que o controla: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672084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Dropout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80" b="0" i="0">
                <a:solidFill>
                  <a:srgbClr val="2B2B2B"/>
                </a:solidFill>
                <a:latin typeface="Calibri"/>
              </a:rPr>
              <a:t>desliga unidades ao acaso no treino, impedindo a co-adaptação.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60904"/>
            <a:ext cx="6720840" cy="5486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06624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Weight decay (L2)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0662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80" b="0" i="0">
                <a:solidFill>
                  <a:srgbClr val="2B2B2B"/>
                </a:solidFill>
                <a:latin typeface="Calibri"/>
              </a:rPr>
              <a:t>penaliza pesos grandes; funções mais suaves.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10128"/>
            <a:ext cx="672084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Batch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5584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80" b="0" i="0">
                <a:solidFill>
                  <a:srgbClr val="2B2B2B"/>
                </a:solidFill>
                <a:latin typeface="Calibri"/>
              </a:rPr>
              <a:t>normaliza pré-ativações por minilote; estabiliza e acelera.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59352"/>
            <a:ext cx="6720840" cy="5486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05072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Parada antecipada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05072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80" b="0" i="0">
                <a:solidFill>
                  <a:srgbClr val="2B2B2B"/>
                </a:solidFill>
                <a:latin typeface="Calibri"/>
              </a:rPr>
              <a:t>interrompe quando a validação para de melhorar; retém os melhores pesos.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08576"/>
            <a:ext cx="672084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Aumento de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54296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80" b="0" i="0">
                <a:solidFill>
                  <a:srgbClr val="2B2B2B"/>
                </a:solidFill>
                <a:latin typeface="Calibri"/>
              </a:rPr>
              <a:t>espelhamentos, rotações, zoom — multiplica o conjunto e ensina invariâncias.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01168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194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Otimização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56032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Adam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é o padrão de fato; ainda assim, a </a:t>
            </a:r>
            <a:r>
              <a:rPr sz="1150" b="1" i="0">
                <a:solidFill>
                  <a:srgbClr val="1B3A5F"/>
                </a:solidFill>
                <a:latin typeface="Calibri"/>
              </a:rPr>
              <a:t>taxa de aprendizado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 segue sendo o hiperparâmetro mais crítico.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70332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8862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Boas práticas de auditoria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251960"/>
            <a:ext cx="3703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Normalizar entradas · sementes fixas · baseline forte · curvas de validação · modelo tão pequeno quanto o problema permitir.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Em defesa, um resultado que não se reproduz não se audita — reprodutibilidade é requisito, não luxo.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3.4 — ARMADILHA COMUM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Recorrer ao deep learning por reflexo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20140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erro frequente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Em dados tabulares de volume modesto — a situação frequente em defesa — uma rede profunda costuma </a:t>
            </a:r>
            <a:r>
              <a:rPr sz="1350" b="1" i="0">
                <a:solidFill>
                  <a:srgbClr val="1B3A5F"/>
                </a:solidFill>
                <a:latin typeface="Calibri"/>
              </a:rPr>
              <a:t>perder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 para uma baseline clássica bem ajustada, além de custar mais para treinar, servir e, sobretudo, auditar. A pergunta correta não mudou desde o Capítulo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A6B80"/>
                </a:solidFill>
                <a:latin typeface="Calibri"/>
              </a:rPr>
              <a:t>Antes de levar uma rede profunda à produção, exija respostas mensuráveis: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2679192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Supera a baseline com folga?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4297680"/>
            <a:ext cx="2679192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429768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 que custo de auditabilidade?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4297680"/>
            <a:ext cx="2679192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429768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Cabe na plataforma-alvo?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4297680"/>
            <a:ext cx="2679192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429768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Quem decide no laço?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A rede profunda deve ser a resposta a uma necessidade demonstrada — não o ponto de partida.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Aplicação integrada: uma CNN para triagem de imagens de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Um fluxo de vídeo gera mais quadros do que qualquer equipe inspeciona. A tarefa não é substituir o analista — é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priorizar a sua atenção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o objetivo declarado do Project Maven: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Métrica ao custo do erro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76272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revocação da classe-alvo: é tolerável revisar falsos positivos; é grave deixar passar um alvo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CNN com aumento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espelhamentos, rotações e zoom embutidos no modelo — ativos só no treino; parada antecipada pela revocação de validação.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Baseline inegociável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858768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floresta aleatória sobre pixels subamostrados: só a comparação justifica o custo da rede em produção.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291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O modelo tria, o humano 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700016"/>
            <a:ext cx="6583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controle humano significativo (Capítulo 10): a triagem amplia a equipe, não a substitui.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Resultado típico: a CNN explora a estrutura espacial dos quadros e domina; a floresta, cega à vizinhança dos pixels, fica para trás.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Uma automação que dispensa o julgamento humano transfere ao modelo uma responsabilidade que ele não pode carregar.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pipeline de triagem, em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667512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aumento = keras.Sequential([layers.RandomFlip("horizontal"),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                    layers.RandomRotation(0.05),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                    layers.RandomZoom(0.05)])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entrada = keras.Input(shape=(64, 64, 1))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aumento(entrada)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layers.Conv2D(32, 3, padding="same", activation="relu")(x)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layers.MaxPooling2D()(x)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layers.Conv2D(64, 3, padding="same", activation="relu")(x)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layers.MaxPooling2D()(x)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layers.GlobalMaxPooling2D()(x)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x = layers.Dropout(0.4)(x)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saida = layers.Dense(1, activation="sigmoid")(x)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cnn = keras.Model(entrada, saida)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cnn.compile(optimizer="adam", loss="binary_crossentropy",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    metrics=[keras.metrics.Recall(name="rev")])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parada = keras.callbacks.EarlyStopping(monitor="val_rev",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mode="max", patience=8, restore_best_weights=True)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cnn.fit(X_tr, y_tr, validation_split=0.2, epochs=40,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    batch_size=32, callbacks=[parada], verbose=0)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base = RandomForestClassifier(n_estimators=300,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class_weight="balanced").fit(Xf_tr, y_tr)  #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aumento de dados é uma camada do modelo: ativo no treino, inerte na inferência.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parada antecipada monitora a revocação de validação em modo max — otimiza a métrica operacional.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Max global, não média: o alvo ocupa menos de 1% do quadro, e a pergunta é “há alvo em algum lugar?”.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baseline clássica é obrigatória — e a comparação se faz sob a métrica operacional, não a acurácia.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Versão completa e executável no notebook do capítulo, no repositório da obra.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Perceptron → 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XOR expõe o limite linear; camadas com ativação não linear aproximam qualquer função contínua.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Retropropagação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regra da cadeia propagando o erro; a ReLU substituiu a sigmoide para evitar o gradiente evanescente.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campos locais, pesos compartilhados e pooling — estrutura espacial e economia de parâmetros.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RNN e 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memória para sequências; as comportas da LSTM preservam o gradiente em horizontes longos.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Treino disciplinado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dropout, weight decay, batch norm, parada antecipada e aumento de dados; Adam e a taxa de aprendizado.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Amplia, não substitui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rede profunda só se justifica quando supera a baseline com folga — e a decisão final permanece humana.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motor do aprendizado profundo está completo — e a disciplina do Módulo I segue indispensável.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Adotar deep learning por reflexo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8249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em tabular modesto, a baseline clássica costuma vencer, a custo menor e com maior auditabilidade. Exija que a rede prove.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Não normalizar as entradas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5117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redes treinam mal com escalas díspares. Padronize — ajustando as estatísticas apenas no treino.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Empilhar camadas sem ativação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1985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uma pilha linear colapsa em um único mapa linear — toda a expressividade extra se perde.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Sigmoide nas camadas ocultas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8853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 saturação trava o aprendizado das primeiras camadas. ReLU nas ocultas; sigmoide só na saída binária.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3794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Treinar sem validação e sem rastro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157216"/>
            <a:ext cx="6675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sem curva de validação, o sobreajuste avança em silêncio; sem sementes e versionamento, nada se reproduz nem se audita.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Sem controle humano na decisão, a automação assume um risco que não lhe cabe — tema do Capítulo 10.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entury Schoolbook"/>
              </a:rPr>
              <a:t>Capítulo 4 — Visão Computacional para Defesa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Das CNNs vistas aqui às arquiteturas de detecção de alvos (YOLO, Faster R-CNN) e ao tratamento de imagens SAR e de vídeo de VANT. O Módulo II põe o motor a serviço da percepção.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Módulo I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Perceptron, retropropagação e as arquiteturas convolucional e recorrente: o motor do aprendizado profundo.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Módulo II à frente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Capítulos 4–6: visão computacional, linguagem natural para inteligência e os modelos de grande escala.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Baseline honesta, métricas ao custo do erro, humano no centro — mais indispensável a cada capítulo.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disciplina que atravessou o Módulo I não se dissolve com a capacidade dos modelos — torna-se mais necessária.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