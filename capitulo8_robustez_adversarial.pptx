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1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7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029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00584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50876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01168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51460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0175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5204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0233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2627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19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53211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0350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5379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509760" y="4754880"/>
            <a:ext cx="1280160" cy="128016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98280" y="4343400"/>
            <a:ext cx="2103120" cy="210312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0" y="3931920"/>
            <a:ext cx="2926080" cy="292608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5320" y="3520440"/>
            <a:ext cx="3749039" cy="3749039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 spc="300">
                <a:solidFill>
                  <a:srgbClr val="AFC3DC"/>
                </a:solidFill>
                <a:latin typeface="Calibri"/>
              </a:rPr>
              <a:t>QUANTUM STRATEGIC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 spc="300">
                <a:solidFill>
                  <a:srgbClr val="AFC3DC"/>
                </a:solidFill>
                <a:latin typeface="Calibri"/>
              </a:rPr>
              <a:t>CAPÍTULO 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24028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Robustez Adversarial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em IA para Defesa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1148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1">
                <a:solidFill>
                  <a:srgbClr val="C9D6E6"/>
                </a:solidFill>
                <a:latin typeface="Calibri"/>
              </a:rPr>
              <a:t>Dos algoritmos clássicos à IA embarcada em aplicações operacionais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806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Cristiano Alves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FC3DC"/>
                </a:solidFill>
                <a:latin typeface="Calibri"/>
              </a:rPr>
              <a:t>Módulo III — Decisão Autônoma · Rio de Janeiro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ANTES DO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Objetivos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Ao final deste capítulo, você será capaz 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Compreender.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por que modelos são intrinsecamente vulneráveis, e por que isso é grave em defesa — o adversário é real e adaptativo.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0116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1762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Distinguir.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as classes de ataque — envenenamento (treino), exemplos adversariais (inferência), ataques físicos e extração.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478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Implementar.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exemplos adversariais — FGSM e PGD — e os modelos de ameaça de caixa-branca e caixa-preta.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3832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5478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Aplicar.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defesas — treinamento adversarial, destilação, detecção — e reconhecer seus limites: nenhuma é completa.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488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50657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0840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012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Aplicar.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verificação e validação (V&amp;V) — estabelecer confiança justificada antes do emprego — que fecha o Módulo III.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acurácia de laboratório nada diz sobre a resistência a um oponente que tenta derrotar o modelo — reconhecê-lo é segurança.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CAPÍTULO DE ORIENTAÇÃO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Da fragilidade à confiança justificada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Vulnerabilidade e envenenamento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Por que os modelos são frágeis; ataques no treino, incluindo backdoors ocultos.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Exemplos adversariais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FGSM e PGD: perturbações imperceptíveis que invertem a predição; ataques físicos.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Defesas algorítmicas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Treinamento adversarial (min-max), destilação e detecção — nenhuma completa.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Verificação e validação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Estabelecer confiança justificada: cauda, robustez, red team, envelope operacional.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A5F"/>
                </a:solidFill>
                <a:latin typeface="Century Schoolbook"/>
              </a:rPr>
              <a:t>Avaliação de robustez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curva de acurácia sob ataque — um juízo de emprego, não um número.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40233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A pergunta do capítulo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entury Schoolbook"/>
              </a:rPr>
              <a:t>Quão bem o modelo resiste a alguém que tenta derrotá-lo — não qual sua acurácia?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Em defesa, o deslocamento de distribuição não é acidente a mitigar: é tática de um oponente inteligente.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Por que modelos de aprendizado são vulneráveis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Correlações, não conceitos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 modelo captura o que separa as classes no treino — não conceitos robustos.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Alta dimensão: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as fronteiras passam surpreendentemente perto de exemplos corretos.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Consequência: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uma perturbação minúscula empurra a entrada para o outro lado.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Não é bug: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é consequência do modo como o modelo aprende.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Três eixos de ataque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quebra deliberada do pressuposto de que treino e teste coincidem.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Momento: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treino (envenenamento) vs. inferência (evasão).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Conhecimento: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caixa-branca (gradientes) vs. caixa-preta (só consulta).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Objetivo: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não direcionado (qualquer erro) vs. direcionado (saída específica).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Um detector enfrentará camuflagem projetada contra ele; um classificador de OSINT, conteúdo forjado; um agente, ambientes manipulados. A pergunta nunca é só "qual a acurácia?", mas "quão bem resiste a quem tenta derrotá-lo?".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vulnerabilidade não é um defeito de implementação a corrigir — é intrínseca ao aprendizado estatístico.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Envenenamento de dados: a bomba-relógio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Ataques de disponibilidade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Corromper os dados de treino para degradar o modelo em sua origem.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Como: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injetar exemplos ruidosos ou mal rotulados.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Efeito: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deteriora o desempenho geral — visível na validação.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Momento: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mais sensível: antes de o modelo existir.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Backdoor (porta dos fundos)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 gatilho oculto que passa pela validação usual sem suspeita.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Comporta-se: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normalmente na imensa maioria dos casos.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Só falha: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quando o gatilho específico está presente (padrão escolhido).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Metáfora: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parece perfeito até o momento, escolhido pelo adversário, em que falha.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NOTA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 envenenamento tem uma dimensão de cadeia de suprimentos: modelos pré-treinados, dados sem curadoria e rotulagem terceirizada são vetores. A defesa começa antes do algoritmo — na procedência e na curadoria verificáveis.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No notebook, 8% de veneno com gatilho instala 100% de sequestro — e a acurácia limpa fica intacta.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Exemplos adversariais: FGSM e PGD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O atacante busca uma perturbação δ pequena (‖δ‖ ≤ ε) que </a:t>
            </a:r>
            <a:r>
              <a:rPr sz="1400" b="1" i="0">
                <a:solidFill>
                  <a:srgbClr val="1B3A5F"/>
                </a:solidFill>
                <a:latin typeface="Calibri"/>
              </a:rPr>
              <a:t>maximize a perda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a retropropagação com o alvo invertido: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5440680" cy="26060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37743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9572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7743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FGSM: um passo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79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Fast Gradient Sign Method: um único passo no sinal do gradiente.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Fórmula: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x_adv = x + ε · sign( ∇ₓ L 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Rápido, mas fraco: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um passo só — insuficiente para avaliar defesas.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5440680" cy="26060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0" y="237743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39572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37743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PGD: iterado e projetado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79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Projected Gradient Descent: pequenos passos, projetados na bola 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Fórmula: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xₜ₊₁ = Πε( xₜ + α · sign(∇ₓ L) 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Referência: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resistir ao PGD é sério; resistir só ao FGSM, não.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463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74336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Os ataques sobrevivem ao mundo físico. </a:t>
            </a:r>
            <a:r>
              <a:rPr sz="1250" b="0" i="0">
                <a:solidFill>
                  <a:srgbClr val="C9D6E6"/>
                </a:solidFill>
                <a:latin typeface="Calibri"/>
              </a:rPr>
              <a:t>Um adesivo adversarial impresso pode cegar um detector — camuflagem dirigida ao classificador, não ao olho humano. O adversário não precisa de acesso: basta alterar o mundo que o sensor observa.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perturbação é imperceptível ao olho — e ainda assim inverte, com alta confiança, a predição de um modelo acurado.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Defesas algorítmicas — nenhuma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Treinamento adversarial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defesa mais eficaz: treinar sobre os próprios exemplos adversariais.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Min-max: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minimizar a perda sobre o PIOR caso na bola de perturbação.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Custo: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menos acurácia limpa e treino muito mais caro.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Destilação defensiva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Treinar um 2º modelo sobre as saídas suavizadas do 1º.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Efeito: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alisa a superfície e reduz a magnitude dos gradientes.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Limite: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ataques mais fortes a contornam parcialmente.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Detecção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Em vez de tornar robusto, identificar e rejeitar entradas manipuladas.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Abordagem: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sinaliza o que parece adversarial e o descarta.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Papel: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camada adicional — não substitui a robustez.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56048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ARMADILHA
COMUM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919472"/>
            <a:ext cx="8229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Declarar um modelo "robusto" sem qualificar a ameaça. Robustez só existe frente a um modelo de ameaça explícito — tipo de ataque, norma, orçamento ε. Uma defesa contra FGSM pode ruir sob PGD. Trate-a como espectro medido, não garantia.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campo é uma corrida: defesas anunciadas como seguras foram sucessivamente quebradas — desconfie do que não diz contra o quê.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A5F"/>
                </a:solidFill>
                <a:latin typeface="Century Schoolbook"/>
              </a:rPr>
              <a:t>Verificação e validação em sistemas críticos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Em um sistema crítico, </a:t>
            </a:r>
            <a:r>
              <a:rPr sz="1400" b="1" i="0">
                <a:solidFill>
                  <a:srgbClr val="1B3A5F"/>
                </a:solidFill>
                <a:latin typeface="Calibri"/>
              </a:rPr>
              <a:t>"funcionou nos testes" é insuficiente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 A V&amp;V estabelece confiança justificada — os elementos são cumulativos: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Avaliação da cauda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334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além da média: pior caso e taxa de falha (Cap. 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10312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249424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Avaliação de robustez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6334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desempenho sob o modelo de ameaça (FGSM, PGD, físico).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210312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249424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Red teaming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63347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uma equipe dedicada a derrotar o modelo expõe o que o teste passivo não vê.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2900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75304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Monitoramento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5935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acompanha o deslocamento de distribuição e a degradação no tempo.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342900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3575304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Rastreabilidade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95935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sementes, versões, dados, decisões — o sistema auditável.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4" y="342900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3575304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Envelope operacional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3959352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as condições de validade — fora delas, não empregar.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Para o mais crítico, a verificação formal prova propriedades (robustez certificada) — garantia restrita a perturbações pequenas.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Aplicação integrada: avaliação de robustez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Um exercício de </a:t>
            </a:r>
            <a:r>
              <a:rPr sz="1400" b="1" i="0">
                <a:solidFill>
                  <a:srgbClr val="1B3A5F"/>
                </a:solidFill>
                <a:latin typeface="Calibri"/>
              </a:rPr>
              <a:t>red team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sobre um modelo treinado: a acurácia sob ataque PGD em ε crescente — a curva de robustez.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76272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Medir a acurácia limpa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76272"/>
            <a:ext cx="6309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 número que o laboratório reporta — e que o resto do exercício desmonta.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054096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72384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17520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Atacar com PGD crescente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017520"/>
            <a:ext cx="6309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ε = 0,01; 0,03; 0,05; 0,10… a acurácia sob o ataque de referência.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85615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89534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1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Traçar a curva de robustez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858768"/>
            <a:ext cx="6309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 modelo comum desaba; o adversarialmente treinado degrada com graça.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26864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73659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0016"/>
            <a:ext cx="3611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Emitir um juízo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700016"/>
            <a:ext cx="6309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não um número: a curva, o envelope e a recomendação — que pode ser não empregar.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Uma acurácia limpa alta que desaba sob ε pequeno revela um modelo frágil, inadequado ao emprego adversarial.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desempenho em condições benignas é promessa vazia se o modelo não resiste ao adversário que certamente o enfrentará.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LISTAGEM 8.2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Ataque adversarial PGD (iterado e projetado)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040880" cy="4297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67512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def pgd(modelo, x, y, epsilon,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alfa=0.01, passos=40):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x_orig = x.clone().detach()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# inicio aleatorio dentro da bola epsilon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x_adv = x + torch.empty_like(x).uniform_(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      -epsilon, epsilon)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x_adv = torch.clamp(x_adv, 0, 1).detach()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for _ in range(passos):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x_adv = x_adv.requires_grad_(True)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perda = F.cross_entropy(modelo(x_adv), y)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modelo.zero_grad()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perda.backward()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# passo no sinal do gradiente...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x_adv = x_adv + alfa * x_adv.grad.sign()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# ...e projecao de volta a bola epsilon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d = torch.clamp(x_adv - x_orig,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          -epsilon, epsilon)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x_adv = torch.clamp(x_orig + d, 0, 1).detach()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return x_adv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 que 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794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É o FGSM iterado: muitos passos pequenos, não um só — por isso muito mais forte.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projeção Πε mantém a perturbação dentro da bola de raio ε a cada passo.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início aleatório dentro da bola evita ótimos locais fracos do ataque.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É o ataque de REFERÊNCIA: uma defesa séria precisa resistir a ele.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No notebook, PGD e FGSM lado a lado: no mesmo ε, o PGD derruba a acurácia muito mais do que o FGSM.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Resumo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Vulnerabilidade intrínseca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os modelos aprendem correlações, não conceitos; o adversário desloca a distribuição de propósito.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Ataques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envenenamento (treino, com backdoors) vs. evasão (inferência); caixa-branca vs. caixa-preta.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FGSM e PGD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 passo vs. iterado e projetado; o PGD é a referência. Sobrevivem ao mundo físico.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Defesas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5720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treinamento adversarial (min-max), destilação e detecção — reduzem, não eliminam.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V&amp;V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45720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cauda, robustez, red team, monitoramento, rastreabilidade e envelope operacional.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Um juízo, não um número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5720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 modelo que desaba sob ε pequeno não deve ser empregado, por alta que seja a acurácia limpa.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V&amp;V é a fundação técnica da governança do Cap. 10: não há responsabilidade sobre o que não se sabe verificar.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PARA NÃO ERRAR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Armadilhas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82496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Confundir acurácia limpa com robustez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682496"/>
            <a:ext cx="5989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 modelo excelente em dados benignos pode ruir sob perturbação mínima. Avalie sob o modelo de ameaça relevante.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Declarar robustez sem qualificar a ameaça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551176"/>
            <a:ext cx="5989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ela só existe frente a um tipo de ataque, uma norma e um ε explícitos. Uma defesa contra FGSM pode falhar sob PGD.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9856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Ignorar a procedência de dados e modelos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419856"/>
            <a:ext cx="5989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pré-treinados e dados não curados podem carregar backdoors. A defesa começa na cadeia de suprimentos.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88536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Subestimar os ataques físicos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288536"/>
            <a:ext cx="5989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perturbações sobrevivem à impressão e ao sensor. Avalie o detector contra camuflagem dirigida ao classificador.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57216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Empregar sem V&amp;V e sem envelope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5157216"/>
            <a:ext cx="5989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"funcionou nos testes" não basta. Defina o envelope, monitore e mantenha a decisão humana e informada.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Fragilidade técnica não é só problema de engenharia: em defesa, é risco jurídico e moral — e pré-condição de licitude (Cap. 10).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8.7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 caminho à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FC3DC"/>
                </a:solidFill>
                <a:latin typeface="Calibri"/>
              </a:rPr>
              <a:t>PRÓXIMO CAPÍTULO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entury Schoolbook"/>
              </a:rPr>
              <a:t>Capítulo 9 — IA Embarcada e Computação em Tempo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9D6E6"/>
                </a:solidFill>
                <a:latin typeface="Calibri"/>
              </a:rPr>
              <a:t>Resta transformar tudo o que se construiu em capacidade operacional. O Módulo IV: as restrições de energia, memória e latência da borda, os ambientes negados e as técnicas que fazem o modelo caber e correr.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Fecha o Módulo 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decisão: a capacidade de agir e a disciplina de torná-la confiável diante de um oponente.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Módulo IV à frente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confiabilidade e a operação: quantização, pruning, destilação; TFLite, ONNX e aceleradores.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A V&amp;V é a ponte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modelos avaliados, robustos dentro de um envelope e auditáveis sustentam a governança do Cap. 10.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honestidade sobre a fragilidade é o começo da segurança; a decisão de empregar, ou não, permanece humana e informada.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