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entury Schoolbook"/>
              </a:rPr>
              <a:t>Processamento de Linguagem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entury Schoolbook"/>
              </a:rPr>
              <a:t>Natural para Inteligência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06908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II — Percepção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Executar.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pré-processamento de texto (tokenização, normalização, stopwords, lematização) e entender por que o texto exige preparação própria.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Representar.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texto numericamente — das esparsas (bag-of-words, TF-IDF) às densas (word embeddings) — sabendo o que cada uma captura.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Construir.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classificadores de texto para análise de sentimento e classificação temática, com métricas ao contexto operacional.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PLN à detecção de desinformação e de campanhas coordenadas — e reconhecer os limites e riscos dessa tarefa.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Compreender.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tradução automática neural (seq2seq com atenção) e ver como a atenção conduz ao Transformer do Capítulo 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visão foi a primeira metade da percepção; a linguagem é a outra — e, em inteligência, a dominante.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Do texto ao sentido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Do texto ao vetor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Pré-processamento e representação: bag-of-words, TF-IDF e word embeddings.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Classificação de 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Análise de sentimento e classificação temática — a receita do Cap. 2, sobre texto.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Desinformação e coordenação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Dois problemas distintos: o nível do conteúdo (frágil) e o do comportamento (robusto).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Tradução neural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Seq2seq, o gargalo do codificador-decodificador e o mecanismo de atenção.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Triagem OSINT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Tema + sentimento + coordenação: priorizar a atenção do analista, não substituí-la.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Onde o erro pode significar censura ou atribuição indevida — o humano decide.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maior parte da informação de inteligência chega em texto: comunicações, OSINT, relatórios, redes.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Do texto ao vetor: pré-processamento e representação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Pré-processamento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Normalizar o texto antes de vetorizar.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Etapas: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tokenização, normalização, stopwords, lematização.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Português: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morfologia rica torna a lematização especialmente útil.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Cuidado: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cada etapa é uma decisão — a negação pode sumir com as stopwords.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Esparsas: TF-IDF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Contagem de termos, ponderada pela raridade no corpus.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Força: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barata, robusta e auditável; baseline de texto forte.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Limite: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ignora ordem e significado (navio ~ nuvem).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Descobre: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sozinha, as stopwords do domínio (peso zero).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Densas: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Vetor denso por palavra, aprendido de grandes corpora.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Hipótese: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palavras em contextos semelhantes têm sentido semelhante.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Captura: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semântica: navio aproxima-se de embarcação.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Limite: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estáticas: um vetor por palavra (manga fruta = manga roupa).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progressão bag-of-words → TF-IDF → embeddings troca captura de sentido por custo — a escolha é a mais simples que resolve.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Duas famílias de representação, dois compromissos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N/df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TF-IDF: a raridade pesa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tf-idf(t,d) = tf(t,d) · log(N / df(t)) — frequência ponderada pela raridade.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Termo onipresente: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df = N ⇒ log(1) = 0: peso zero. Descobre sozinho as stopwords do domínio.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Termo raro e característico: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peso alto — é o que discrimina o documento.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Resultado: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com um classificador linear, uma baseline de texto notavelmente forte.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Embeddings: o sentido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hipótese distribucional: o contexto revela o significado.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Aritmética vetorial: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rei − homem + mulher ≈ rainha — relações capturadas no espaço.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Ganho: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navio aproxima-se de embarcação; distância vira semântica.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Limite estático: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manga (fruta) e manga (roupa) partilham um único vetor.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NOTA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 progressão bag-of-words → TF-IDF → embeddings estáticas → embeddings contextuais é uma história de captura crescente de sentido, ao custo crescente de dados e computação. A escolha não é a mais avançada, mas a mais simples que resolve — e o TF-IDF continua competitivo e muito mais auditável.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Superar o limite estático — um vetor por palavra, sem contexto — exige as representações contextuais do Capítulo 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Classificação de texto: sentimento e 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 receita do Capítulo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Texto → vetores → classificador, com todas as lições do Cap. 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Classificação temática: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roteia documentos por assunto — o análogo textual da triagem de imagens (Cap. 4).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Análise de sentimento: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polaridade (positivo/negativo/neutro): humor de uma população, narrativas, proteção da força.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Baseline forte: TF-IDF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TF-IDF + regressão logística é uma baseline notavelmente forte.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Passo neural: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camada de embedding + CNN/LSTM (Cap. 3): capta ordem, a maior custo.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Regra: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neural deve provar sua vantagem — e o texto traz dificuldades próprias.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monitoramento de fontes abertas enfrenta o mesmo problema de volume da vigilância por imagem: há mais texto público do que qualquer equipe lê. A classificação é o multiplicador de capacidade que prioriza o relevante.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Dificuldades próprias do texto: ironia e sarcasmo, mistura de idiomas (code-switching), gírias e jargão de domínio.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Detecção de desinformação e campanhas coordenadas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?!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Nível do conteúdo: frágil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Classificar um texto como provável desinformação.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Problema: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veracidade não está na superfície: um texto falso pode ser impecável.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Fraqueza: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capta pistas superficiais (estilo, fonte) que o adversário adapta com facilidade.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Verificação real: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confrontar afirmações com evidência externa — excede a classificação.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Nível do comportamento: robusto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Identificar coordenação: quem diz, quando e como.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Assinaturas: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conteúdo quase-idêntico replicado, sincronização temporal, amplificação.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Por que robusto: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descreve a mecânica da campanha, não o seu texto.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Ferramentas: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PLN + análise de redes e de séries temporais.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Coordenação não é prova de falsidade.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Conteúdo quase-duplicado indica amplificação — uma notícia verdadeira também é replicada. O custo do falso positivo é altíssimo: a saída é hipótese para investigação humana, jamais um veredito.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decisão de rotular algo como desinformação não pode ser automatizada — atribuição indevida tem consequências políticas.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Tradução automática neural: a semente da atenção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Codificador-decodificador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Traduzir é sequência para sequência (seq2seq).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Codificador: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uma LSTM (Cap. 3) resume a frase em um vetor de contexto.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Decodificador: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gera a saída palavra a palavra a partir desse vetor.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O gargalo: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comprimir a frase inteira em um vetor fixo perde informação.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O mecanismo de atenção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cada palavra gerada, o decodificador consulta TODA a entrada.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Ideia: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contexto = soma ponderada dos estados; os pesos vêm de um softmax.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Resolve: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gargalo do vetor único — a qualidade não despenca com o comprimento.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Revela: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talvez a recorrência seja dispensável e a atenção baste (Cap. 6).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ATENÇÃO
OPERACIONAL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Um erro de tradução em material sensível pode inverter o sentido de uma mensagem — "cessar fogo" e "manter fogo" são opostos. A tradução automática tria e apoia; a validação por um linguista é indispensável.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atenção resolveu o gargalo — e, ao fazê-lo, plantou a tese do Transformer, tema do Capítulo 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O mecanismo de atenção, em uma fórmula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Em vez de UM vetor de contexto, o decodificador, a cada palavra que gera, </a:t>
            </a:r>
            <a:r>
              <a:rPr sz="1500" b="1" i="0">
                <a:solidFill>
                  <a:srgbClr val="1B3A5F"/>
                </a:solidFill>
                <a:latin typeface="Calibri"/>
              </a:rPr>
              <a:t>consulta toda a entrada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 pondera as partes relevantes: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1201400" cy="10515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cᵢ = Σⱼ αᵢⱼ · hⱼ        αᵢⱼ = softmax dos escores de compatibilidade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o contexto do passo i é a soma dos estados hⱼ da entrada, ponderada pelos pesos de atenção αᵢⱼ.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hⱼ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584448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estado do codificador na posição j — o que a entrada oferece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361188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αᵢⱼ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3584448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quanto a saída i deve “olhar” para a entrada j (soma 1 por softmax)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3474720"/>
            <a:ext cx="3593592" cy="10058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3611880"/>
            <a:ext cx="822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cᵢ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3584448"/>
            <a:ext cx="2331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o contexto do passo i: uma mistura sob medida da entrada inteira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 mesma frase, ponderada de formas diferentes conforme a consulta.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A atenção dissolveu o gargalo — e revelou que talvez a recorrência seja dispensável: a tese do Transformer.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No notebook, a atenção é implementada em forma mínima e vista realçar termos distintos por consulta.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Aplicação integrada: triagem de fontes abertas (OSINT)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Um fluxo contínuo de texto é filtrado por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tema, sentimento e sinais de coordenação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tudo para priorizar a atenção do analista, não para substituí-la: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76272"/>
            <a:ext cx="3429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Classificação temática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76272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reusa a baseline TF-IDF: roteia o fluxo por tema de interesse.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54096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72384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3429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Análise de sentimento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afere a polaridade — relatos muito negativos sobem na fila.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85615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895344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1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3429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Sinal de coordenação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58768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conteúdo quase-duplicado entre autores distintos indica amplificação.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26864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736592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50292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00016"/>
            <a:ext cx="3429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entury Schoolbook"/>
              </a:rPr>
              <a:t>Fila priorizada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700016"/>
            <a:ext cx="6492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itens relevantes, com o motivo da sinalização, para revisão humana.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Em nenhum domínio do livro a fronteira entre apoiar e decidir é tão sensível.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Humildade epistêmica e controle humano não são boas práticas, aqui: são salvaguardas contra o abuso.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LISTAGEM 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1B3A5F"/>
                </a:solidFill>
                <a:latin typeface="Century Schoolbook"/>
              </a:rPr>
              <a:t>Pipeline de triagem OSINT: tema, sentimento e coordenação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67512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Pipeline OSINT sobre um fluxo de fontes abertas.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1. Classificacao tematica (baseline TF-IDF, List. 5.1)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temas = baseline.predict(fluxo_textos)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2. Sentimento (classificador da Secao 5.2)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polaridade = modelo_sentimento.predict(fluxo_textos)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3. Sinal de coordenacao (List. 5.2)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_, autores = deteccao_coordenacao(fluxo_textos,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             fluxo_autores)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4. Fila: tema prioritario E (coordenado OU negativo)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fila = []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for i, texto in enumerate(fluxo_textos):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relevante = temas[i] in TEMAS_PRIORITARIOS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coordenado = fluxo_autores[i] in autores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negativo = polaridade[i] == 0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if relevante and (coordenado or negativo):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fila.append({"idx": i, "tema": temas[i]})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print(f"Itens para revisao humana: {len(fila)}")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Compõe os blocos do capítulo: a classificação temática, o sentimento e o sinal de coordenação.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fila combina relevância com dois gatilhos: amplificação coordenada ou sentimento muito negativo.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Entrega poucos itens, com o motivo da sinalização — e deixa passar o ruído e o que é rotina.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decisão final — inclusive rotular algo como desinformação — é sempre humana (Cap. 10).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Versão completa e executável no notebook do capítulo, no repositório da obra.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Do texto ao vetor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pré-processamento + representação; o português torna a lematização especialmente útil.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Esparsas vs. densas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TF-IDF é barata, robusta, auditável; embeddings capturam sentido, mas são estáticas.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Classificação de 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51460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tema e sentimento seguem a receita do Cap. 2; TF-IDF é uma baseline forte.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Desinformação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conteúdo é frágil e adaptável; o comportamento (coordenação) é mais robusto — mas indício, não prova.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Tradução e atenção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codificador-decodificador sofre do gargalo; a atenção o resolve ponderando toda a entrada.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A atenção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617720"/>
            <a:ext cx="31089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é a semente do Transformer (Cap. 6); o alto custo do falso positivo impõe controle humano.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Do texto bruto ao sentido operacional — e, em desinformação, o erro custa caro: humildade e humano na decisão.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Adotar embeddings por reflexo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68249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para muitas tarefas, o TF-IDF com classificador linear iguala ou supera modelos densos, a custo menor e mais auditável.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Ignorar o pré-processamento do idioma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5117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morfologia do português e a ironia, o code-switching e o jargão degradam modelos de outro registro. Valide no domínio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Tratar desinformação como classificação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41985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veracidade não está na superfície do texto. Prefira sinais comportamentais e confronto com evidência externa.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Confundir amplificação com falsidade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428853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conteúdo quase-duplicado indica coordenação, não mentira — o verdadeiro também é replicado. É ponto de partida, não veredito.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Confiar na tradução de material sensível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157216"/>
            <a:ext cx="6263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erro de tradução pode inverter o sentido. Em alto risco, a validação por um linguista é indispensável.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Num domínio de alto custo de erro, a saída do modelo é hipótese para revisão humana; a decisão de rótulo permanece humana.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5.6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 caminho à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AFC3DC"/>
                </a:solidFill>
                <a:latin typeface="Calibri"/>
              </a:rPr>
              <a:t>PRÓXIMO CAPÍTULO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entury Schoolbook"/>
              </a:rPr>
              <a:t>Capítulo 6 — Modelos de Linguagem de Grande Escala em Inteligência e OSINT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C9D6E6"/>
                </a:solidFill>
                <a:latin typeface="Calibri"/>
              </a:rPr>
              <a:t>A atenção deste capítulo é levada à sua conclusão: a arquitetura Transformer, que abandona a recorrência, e os grandes modelos de linguagem (BERT, GPT) construídos sobre ela — com suas aplicações e riscos.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Encerra a percepção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 clássica-a-neural do Módulo II: da visão à linguagem, do texto bruto ao mecanismo de atenção.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A deixa da atenção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leva ao Transformer e aos LLMs — que redefiniram o PLN e hoje também a visão computacional.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3977639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41879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B3A5F"/>
                </a:solidFill>
                <a:latin typeface="Century Schoolbook"/>
              </a:rPr>
              <a:t>O que permanece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461772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comparar contra baseline, medir pelo custo do erro, validar no emprego e manter o humano na decisão.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Ao entrar no território dos grandes modelos de linguagem, a disciplina torna-se a própria condição do emprego responsável.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