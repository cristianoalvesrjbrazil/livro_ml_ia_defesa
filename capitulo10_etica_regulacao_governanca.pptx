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QUANTUM STRATEGIC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 spc="300">
                <a:solidFill>
                  <a:srgbClr val="AFC3DC"/>
                </a:solidFill>
                <a:latin typeface="Calibri"/>
              </a:rPr>
              <a:t>CAPÍTULO 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24028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entury Schoolbook"/>
              </a:rPr>
              <a:t>Ética, Regulação e IA em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entury Schoolbook"/>
              </a:rPr>
              <a:t>Sistemas de Armas Autônomos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406908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1">
                <a:solidFill>
                  <a:srgbClr val="C9D6E6"/>
                </a:solidFill>
                <a:latin typeface="Calibri"/>
              </a:rPr>
              <a:t>Dos algoritmos clássicos à IA embarcada em aplicações operacionais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8064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Cristiano Alves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0" i="0">
                <a:solidFill>
                  <a:srgbClr val="AFC3DC"/>
                </a:solidFill>
                <a:latin typeface="Calibri"/>
              </a:rPr>
              <a:t>Módulo IV — Operação e Governança · Rio de Janeiro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ANTES DO ENCONTRO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Objetivos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Ao final deste capítulo, você será capaz 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762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Conhecer.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marcos internacionais emergentes — a CCW da ONU, os princípios da OTAN e o AI Act — e a fragmentação do cenário.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192" y="20116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59" y="23225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408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1762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Compreender.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princípio do controle humano significativo como eixo central do debate, e as suas variações.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39496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47872"/>
            <a:ext cx="4251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Conhecer.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posição do Brasil e a sua articulação com a Estratégia Nacional de Defesa.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8192" y="3383280"/>
            <a:ext cx="5550408" cy="11887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59" y="36941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712463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47872"/>
            <a:ext cx="440740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Aplicar.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os princípios do DIH — distinção, proporcionalidade, precaução e responsabilidade — a sistemas autônomos.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5488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5065776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084064"/>
            <a:ext cx="548640" cy="512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19472"/>
            <a:ext cx="10012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Implementar.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mecanismos de governança técnica — auditabilidade, rastreabilidade e accountability — como fundação do emprego responsável.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capítulo para o qual todos convergiram: não "o que a máquina consegue fazer?", mas "o que se deve fazer, e sob que restrições?".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CAPÍTULO DE ORIENTAÇÃO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Do direito à governança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Marcos internacionais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CCW da ONU, princípios da OTAN e AI Act — um mosaico fragmentado, sempre em evolução.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Controle humano significativo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eixo do debate: compreensão, tempo e capacidade de intervir; in / on / out of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6002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8288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Direito internacional humanitário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78892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Distinção, proporcionalidade, precaução e a lacuna de responsabilização.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A posição do Brasil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Marco robusto, DIH integral e controle humano — coerente com a END e a soberania.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40233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2976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1B3A5F"/>
                </a:solidFill>
                <a:latin typeface="Century Schoolbook"/>
              </a:rPr>
              <a:t>Governança técnica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98348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Auditabilidade, rastreabilidade e accountability: a trilha de auditoria e a ficha de modelo.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7947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402336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AFC3DC"/>
                </a:solidFill>
                <a:latin typeface="Calibri"/>
              </a:rPr>
              <a:t>A pergunta do capítulo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FFFFFF"/>
                </a:solidFill>
                <a:latin typeface="Century Schoolbook"/>
              </a:rPr>
              <a:t>Como colher a capacidade sem delegar à máquina a decisão sobre o uso da força?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cada capítulo, uma mesma postura se repetiu — o modelo percebe e tria; o humano decide. Aqui ela se torna explícita.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Marcos internacionais emergentes: um mosaico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CCW da ONU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O foro central para as armas letais autônomas (LAWS).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GGE: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princípios orientadores desde 2019: o DIH se aplica integralmente.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Ritmo: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opera por consenso — avança devagar, reflete divergências profundas.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Princípios da OTAN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Uso responsável: licitude, rastreabilidade, governabilidade, vieses.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Natureza: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soft law — orienta, sem obrigar como um tratado.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Influência: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moldam a doutrina dos Estados-membros.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B3A5F"/>
                </a:solidFill>
                <a:latin typeface="Century Schoolbook"/>
              </a:rPr>
              <a:t>AI Act europeu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primeira regulação horizontal abrangente, baseada em risco.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Ressalva: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EXCLUI os usos militares e de defesa de seu escopo.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Efeito: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IA militar fica ao DIH e ao direito nacional — não a ele.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Acima de todos, o direito internacional humanitário.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Conhecer o mosaico é necessário; mas o solo firme, sobre o qual não há dúvida de aplicabilidade, é o DIH — que vincula independentemente de qualquer tratado sobre 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Não há regime global único e vinculante para a IA militar — mas um mosaico de instrumentos, de dureza variável.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O princípio do controle humano significativo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Decisões de vida e morte não podem ser plenamente delegadas a uma máquina. O que torna o controle </a:t>
            </a:r>
            <a:r>
              <a:rPr sz="1400" b="1" i="0">
                <a:solidFill>
                  <a:srgbClr val="1B3A5F"/>
                </a:solidFill>
                <a:latin typeface="Calibri"/>
              </a:rPr>
              <a:t>significativo, e não nominal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2679192" cy="1234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04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Compreensão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7004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informação compreensível — não uma caixa-preta.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1" y="2148840"/>
            <a:ext cx="2679192" cy="12344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04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Tempo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7004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para deliberar, compatível com a decisão.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148840"/>
            <a:ext cx="2679192" cy="12344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304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Intervenção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67004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capacidade de vetar, corrigir ou abortar a qualquer momento.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2148840"/>
            <a:ext cx="2679192" cy="12344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230428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Registro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2670048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2B2B2B"/>
                </a:solidFill>
                <a:latin typeface="Calibri"/>
              </a:rPr>
              <a:t>a decisão registrada e passível de responsabilização.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11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5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IN the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autoriza cada 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611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785615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B3A5F"/>
                </a:solidFill>
                <a:latin typeface="Century Schoolbook"/>
              </a:rPr>
              <a:t>ON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160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supervisiona e pode vetar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611880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4" y="3785615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entury Schoolbook"/>
              </a:rPr>
              <a:t>OUT of the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4" y="41605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C9D6E6"/>
                </a:solidFill>
                <a:latin typeface="Calibri"/>
              </a:rPr>
              <a:t>sem intervenção — o polo rejeitado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máquina percebe, tria e recomenda; a decisão sobre o uso da força permanece humana — não como limite técnico, mas como legitimidade.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B3A5F"/>
                </a:solidFill>
                <a:latin typeface="Century Schoolbook"/>
              </a:rPr>
              <a:t>O direito internacional humanitário aplicado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Os limites técnicos dos capítulos anteriores tornam-se limites jurídicos — cada princípio depende de uma </a:t>
            </a:r>
            <a:r>
              <a:rPr sz="1350" b="1" i="0">
                <a:solidFill>
                  <a:srgbClr val="1B3A5F"/>
                </a:solidFill>
                <a:latin typeface="Calibri"/>
              </a:rPr>
              <a:t>propriedade técnica</a:t>
            </a:r>
            <a:r>
              <a:rPr sz="1350" b="0" i="0">
                <a:solidFill>
                  <a:srgbClr val="2B2B2B"/>
                </a:solidFill>
                <a:latin typeface="Calibri"/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2082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Distinção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020824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separar combatentes de civis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020824"/>
            <a:ext cx="4709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A6FA5"/>
                </a:solidFill>
                <a:latin typeface="Calibri"/>
              </a:rPr>
              <a:t>↳ </a:t>
            </a:r>
            <a:r>
              <a:rPr sz="1100" b="0" i="0">
                <a:solidFill>
                  <a:srgbClr val="5A6B80"/>
                </a:solidFill>
                <a:latin typeface="Calibri"/>
              </a:rPr>
              <a:t>detecção robusta + robustez adversarial (Caps. 4 e 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Proporcionalidade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52344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dano civil não excessivo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752344"/>
            <a:ext cx="4709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A6FA5"/>
                </a:solidFill>
                <a:latin typeface="Calibri"/>
              </a:rPr>
              <a:t>↳ </a:t>
            </a:r>
            <a:r>
              <a:rPr sz="1100" b="0" i="0">
                <a:solidFill>
                  <a:srgbClr val="5A6B80"/>
                </a:solidFill>
                <a:latin typeface="Calibri"/>
              </a:rPr>
              <a:t>avaliação da cauda, não da média (Caps. 7 e 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900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Precaução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483864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poupar civis por todos os meios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483864"/>
            <a:ext cx="4709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A6FA5"/>
                </a:solidFill>
                <a:latin typeface="Calibri"/>
              </a:rPr>
              <a:t>↳ </a:t>
            </a:r>
            <a:r>
              <a:rPr sz="1100" b="0" i="0">
                <a:solidFill>
                  <a:srgbClr val="5A6B80"/>
                </a:solidFill>
                <a:latin typeface="Calibri"/>
              </a:rPr>
              <a:t>envelope operacional + degradação graciosa (Caps. 8-9)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11155680" cy="6400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15384"/>
            <a:ext cx="2606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B3A5F"/>
                </a:solidFill>
                <a:latin typeface="Century Schoolbook"/>
              </a:rPr>
              <a:t>Responsabilidade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215384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sempre haver quem responde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215384"/>
            <a:ext cx="4709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4A6FA5"/>
                </a:solidFill>
                <a:latin typeface="Calibri"/>
              </a:rPr>
              <a:t>↳ </a:t>
            </a:r>
            <a:r>
              <a:rPr sz="1100" b="0" i="0">
                <a:solidFill>
                  <a:srgbClr val="5A6B80"/>
                </a:solidFill>
                <a:latin typeface="Calibri"/>
              </a:rPr>
              <a:t>trilha de auditoria + ficha de modelo (§ 10.5)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Sobre todos paira a lacuna de responsabilização: a autonomia tende a difundir a responsabilidade que o DIH exige preservar.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 posição do Brasil e a soberania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A posição brasileira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Atuação ativa no GGE da CCW, por um marco normativo robusto.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Defende: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instrumento com força jurídica e a aplicação integral do DIH.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Indispensável: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o controle humano sobre o uso da força.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Coerente: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com a tradição diplomática e a defesa do multilateralismo.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874519"/>
            <a:ext cx="4206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Soberania e responsabilidade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Não se opõem — reforçam-se mutuamente.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80"/>
            <a:ext cx="493776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Construir domesticamente: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é o que torna possível auditar, validar e governar.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A alternativa: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depender de sistemas estrangeiros opacos sacrifica ambas.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Síntese: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desenvolver com responsabilidade é, ele próprio, um ato de soberania.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56048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CONTEXTO
DE DEFESA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8458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Um país que não domina a tecnologia não a controla — apenas a importa, com os vieses, as dependências e as limitações de quem a produziu. A capacidade soberana é o que permite governá-la segundo valores nacionais.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A Estratégia Nacional de Defesa e a soberania tecnológica não conflitam com o uso responsável: viabilizam a governança.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1B3A5F"/>
                </a:solidFill>
                <a:latin typeface="Century Schoolbook"/>
              </a:rPr>
              <a:t>Governança técnica: da ética à propriedade verificável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Auditabilidade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Examinar e compreender as decisões após o fato.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Exige: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registro, explicabilidade e acesso.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Ferramenta: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trilha de auditoria (Listagem 10.1).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9432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Rastreabilidade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Reconstituir uma decisão através do que a produziu.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Reconstrói: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modelo, versão, entrada, dados e o humano que interveio.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Ferramenta: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a ficha de modelo (Listagem 10.2).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21624" y="1874519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892807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1874519"/>
            <a:ext cx="2377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65176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Calibri"/>
              </a:rPr>
              <a:t>A atribuição clara de responsabilidade.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47472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Só possível: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sobre as duas anteriores: sem rastro, sem responsabilização.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50" b="1" i="0">
                <a:solidFill>
                  <a:srgbClr val="1B3A5F"/>
                </a:solidFill>
                <a:latin typeface="Calibri"/>
              </a:rPr>
              <a:t>Regra: </a:t>
            </a:r>
            <a:r>
              <a:rPr sz="1150" b="0" i="0">
                <a:solidFill>
                  <a:srgbClr val="2B2B2B"/>
                </a:solidFill>
                <a:latin typeface="Calibri"/>
              </a:rPr>
              <a:t>não se responsabiliza por uma decisão que não se pode rastrear.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0060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 ponte entre a engenharia e a ética. </a:t>
            </a:r>
            <a:r>
              <a:rPr sz="1300" b="0" i="0">
                <a:solidFill>
                  <a:srgbClr val="C9D6E6"/>
                </a:solidFill>
                <a:latin typeface="Calibri"/>
              </a:rPr>
              <a:t>Auditabilidade, rastreabilidade e accountability são a realização concreta do controle humano e da responsabilização do DIH. Sem elas, o compromisso é retórica; com elas, uma propriedade verificável.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Princípios são vazios sem os mecanismos que os realizam — a governança não se decreta em doutrina: constrói-se no sistema.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LISTAGENS 10.1 e 10.2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A trilha de auditoria e a ficha de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040880" cy="4297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667512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10.1 - Trilha de auditoria: cada decisao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def registrar_decisao(caminho, modelo_versao,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entrada, saida, confianca, decisao_humana):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evento = {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"instante": time.time(),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"modelo_versao": modelo_versao,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"entrada_hash": hashlib.sha256(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               bytes(entrada)).hexdigest(),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"saida_modelo": saida,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"confianca": round(float(confianca), 4),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"decisao_humana": decisao_humana,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"seguiu_modelo": saida == decisao_humana,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with open(caminho, "a") as f: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    f.write(json.dumps(evento) + "\n")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   return evento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Reconstroi QUEM decidiu O QUE, com QUE base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950" b="0" i="0">
                <a:solidFill>
                  <a:srgbClr val="1F1F1F"/>
                </a:solidFill>
                <a:latin typeface="Courier New"/>
              </a:rPr>
              <a:t># e QUE modelo -- pre-requisito da responsabilizacao.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69164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1B3A5F"/>
                </a:solidFill>
                <a:latin typeface="Century Schoolbook"/>
              </a:rPr>
              <a:t>O que 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37947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trilha registra o que o modelo sugeriu, a confiança e o que o humano decidiu.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O hash da entrada garante a integridade — a evidência não pode ser adulterada.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taxa de veto humano é um indicador: veto zero sinaliza viés de automação.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250" b="1" i="0">
                <a:solidFill>
                  <a:srgbClr val="4A6FA5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A ficha de modelo (10.2) documenta uso, envelope, métricas, robustez e limitações.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Usar um modelo fora do seu envelope documentado é uma decisão — e, portanto, uma responsabilidade.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SÍNTESE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Resumo do capítulo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Mosaico regulatório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CCW, OTAN e AI Act (que exclui o militar); acima de todos, o DIH, que vincula sempre.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Controle humano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compreensão, tempo e capacidade de intervir — contra o viés de automação. In / on / 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4592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1847088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DIH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24688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distinção, proporcionalidade, precaução; os limites técnicos viram limites jurídicos.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A posição do Brasil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marco robusto e controle humano — soberania e responsabilidade reforçam-se.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Governança 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auditabilidade, rastreabilidade e accountability; trilha de auditoria e ficha de modelo.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3749039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3950207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B3A5F"/>
                </a:solidFill>
                <a:latin typeface="Century Schoolbook"/>
              </a:rPr>
              <a:t>A síntese da obra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3336" y="457200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IA de defesa responsável, soberana e centrada no humano; a decisão sobre a força é humana.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Capacidade soberana e uso responsável reforçam-se; e a decisão sobre o uso da força permanece humana — condição de legitimidade.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PARA NÃO ERRAR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A5F"/>
                </a:solidFill>
                <a:latin typeface="Century Schoolbook"/>
              </a:rPr>
              <a:t>Armadilhas comuns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8249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Supor um único marco regulatório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68249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o cenário é fragmentado e evolui: CCW, OTAN, AI Act (que exclui o militar) e o DIH coexistem. Ancore-se no DIH.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Tratar o controle humano como formalidade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55117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um humano que apenas homologa não exerce controle significativo. Assegure compreensão, tempo e capacidade de intervir.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3756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1985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Crer que o DIH é só questão de regras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341985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ele depende das propriedades técnicas: robustez, auditabilidade, rastreabilidade. Fragilidade técnica é risco jurídico.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0624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8853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Opor soberania e responsabilidade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8853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não competem: a capacidade soberana é o que permite auditar, validar e governar segundo valores próprios.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74920"/>
            <a:ext cx="11155680" cy="758952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74920"/>
            <a:ext cx="128016" cy="758952"/>
          </a:xfrm>
          <a:prstGeom prst="rect">
            <a:avLst/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57216"/>
            <a:ext cx="44348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1B3A5F"/>
                </a:solidFill>
                <a:latin typeface="Century Schoolbook"/>
              </a:rPr>
              <a:t>Empregar sem governança técnica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5157216"/>
            <a:ext cx="5989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2B2B2B"/>
                </a:solidFill>
                <a:latin typeface="Calibri"/>
              </a:rPr>
              <a:t>sem trilha, ficha e envelope, não há responsabilização. Delegar a decisão sobre a força não se admite.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A6FA5"/>
                </a:solidFill>
                <a:latin typeface="Calibri"/>
              </a:rPr>
              <a:t>A IA informa, percebe e recomenda; a decisão e a responsabilidade permanecem humanas — não é limitação, mas condição de legitimidade.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4A6FA5"/>
                </a:solidFill>
                <a:latin typeface="Calibri"/>
              </a:rPr>
              <a:t>§ 10.6 — SÍNTESE DA OBRA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A5F"/>
                </a:solidFill>
                <a:latin typeface="Century Schoolbook"/>
              </a:rPr>
              <a:t>Uma ética de engenharia, em dez capítulos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Inteligência Artificial e Machine Learning Avançado para Defesa — 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B80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Fundamentos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32204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2204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7924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Clássicos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8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Deep learning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90772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90772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6491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Visão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Linguagem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9340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5060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LLMs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624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624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Reforço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07908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7908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3628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Robustez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7192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37192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B3A5F"/>
                </a:solidFill>
                <a:latin typeface="Century Schoolbook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2B2B2B"/>
                </a:solidFill>
                <a:latin typeface="Calibri"/>
              </a:rPr>
              <a:t>Embarcada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66476" y="1691640"/>
            <a:ext cx="1033271" cy="141732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66476" y="1874519"/>
            <a:ext cx="103327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entury Schoolbook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2196" y="2450592"/>
            <a:ext cx="941832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C9D6E6"/>
                </a:solidFill>
                <a:latin typeface="Calibri"/>
              </a:rPr>
              <a:t>Governança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38328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B3A5F"/>
                </a:solidFill>
                <a:latin typeface="Calibri"/>
              </a:rPr>
              <a:t>A MESMA disciplina, dez vezes: comparar contra baseline, medir a cauda, validar o envelope, manter o humano na decisão.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977639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187952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9D6E6"/>
                </a:solidFill>
                <a:latin typeface="Calibri"/>
              </a:rPr>
              <a:t>Duas exigências que só à primeira vista se opõem — desenvolver capacidade soberana e comprometer-se com o uso responsável — não competem: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 primeira é o que torna a segunda possível.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C9D6E6"/>
                </a:solidFill>
                <a:latin typeface="Calibri"/>
              </a:rPr>
              <a:t>A IA não decide: informa, percebe, tria, recomenda. A decisão — e a responsabilidade — permanece humana. Não é fraqueza a corrigir; é a condição de seu uso legítimo.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6188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A6B80"/>
                </a:solidFill>
                <a:latin typeface="Calibri"/>
              </a:rPr>
              <a:t>O que parecia um conjunto de boas práticas de engenharia revela-se, ao final, uma ética.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087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146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5204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1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321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3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3795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79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19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554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06424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56716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070080" y="0"/>
            <a:ext cx="0" cy="685800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029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00584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50876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01168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51460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017520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5204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0233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2627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19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53211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603503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537959"/>
            <a:ext cx="12192609" cy="0"/>
          </a:xfrm>
          <a:prstGeom prst="line">
            <a:avLst/>
          </a:prstGeom>
          <a:ln w="6350">
            <a:solidFill>
              <a:srgbClr val="8FA8C8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509760" y="4754880"/>
            <a:ext cx="1280160" cy="128016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98280" y="4343400"/>
            <a:ext cx="2103120" cy="210312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0" y="3931920"/>
            <a:ext cx="2926080" cy="2926080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75320" y="3520440"/>
            <a:ext cx="3749039" cy="3749039"/>
          </a:xfrm>
          <a:prstGeom prst="ellipse">
            <a:avLst/>
          </a:prstGeom>
          <a:noFill/>
          <a:ln w="15875">
            <a:solidFill>
              <a:srgbClr val="8FB0D9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1234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 spc="300">
                <a:solidFill>
                  <a:srgbClr val="AFC3DC"/>
                </a:solidFill>
                <a:latin typeface="Calibri"/>
              </a:rPr>
              <a:t>FIM DA OBRA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1965960"/>
            <a:ext cx="10424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Construa bem.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Governe com juízo.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A decisão é sua.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074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9D6E6"/>
                </a:solidFill>
                <a:latin typeface="Calibri"/>
              </a:rPr>
              <a:t>Uma IA de defesa capaz e soberana — porque quem não constrói não governa — e responsável e centrada no humano: a decisão sobre o uso da força, e a responsabilidade que a acompanha, não se delegam a uma máquina.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